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d599e6989400e" /><Relationship Type="http://schemas.openxmlformats.org/officeDocument/2006/relationships/extended-properties" Target="/docProps/app.xml" Id="R52a62bceff2441bf" /><Relationship Type="http://schemas.openxmlformats.org/officeDocument/2006/relationships/officeDocument" Target="/ppt/presentation.xml" Id="R26762a1586894b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dff337c104ba0"/>
  </p:sldMasterIdLst>
  <p:notesMasterIdLst>
    <p:notesMasterId xmlns:r="http://schemas.openxmlformats.org/officeDocument/2006/relationships" r:id="Rfb31aa8fb78a477e"/>
  </p:notesMasterIdLst>
  <p:sldIdLst>
    <p:sldId xmlns:r="http://schemas.openxmlformats.org/officeDocument/2006/relationships" id="256" r:id="Ref9b9ed143194b68"/>
    <p:sldId xmlns:r="http://schemas.openxmlformats.org/officeDocument/2006/relationships" id="257" r:id="Rb51d4a025bc84d43"/>
    <p:sldId xmlns:r="http://schemas.openxmlformats.org/officeDocument/2006/relationships" id="258" r:id="Re85cc8f12ce94499"/>
    <p:sldId xmlns:r="http://schemas.openxmlformats.org/officeDocument/2006/relationships" id="259" r:id="R475fcfca348d43a0"/>
    <p:sldId xmlns:r="http://schemas.openxmlformats.org/officeDocument/2006/relationships" id="260" r:id="R2d7fea2f0ad247b4"/>
    <p:sldId xmlns:r="http://schemas.openxmlformats.org/officeDocument/2006/relationships" id="261" r:id="Re3bf352f83df4b2e"/>
    <p:sldId xmlns:r="http://schemas.openxmlformats.org/officeDocument/2006/relationships" id="262" r:id="R3a7720606aa442aa"/>
    <p:sldId xmlns:r="http://schemas.openxmlformats.org/officeDocument/2006/relationships" id="263" r:id="R19b6ef526a494b49"/>
    <p:sldId xmlns:r="http://schemas.openxmlformats.org/officeDocument/2006/relationships" id="264" r:id="Rdc4fa51535f4434a"/>
    <p:sldId xmlns:r="http://schemas.openxmlformats.org/officeDocument/2006/relationships" id="265" r:id="R3670bd4ab21e44ed"/>
    <p:sldId xmlns:r="http://schemas.openxmlformats.org/officeDocument/2006/relationships" id="266" r:id="R7458882531024c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50baf012a4236" /><Relationship Type="http://schemas.openxmlformats.org/officeDocument/2006/relationships/slideMaster" Target="/ppt/slideMasters/slideMaster1.xml" Id="R142dff337c104ba0" /><Relationship Type="http://schemas.openxmlformats.org/officeDocument/2006/relationships/notesMaster" Target="/ppt/notesMasters/notesMaster1.xml" Id="Rfb31aa8fb78a477e" /><Relationship Type="http://schemas.openxmlformats.org/officeDocument/2006/relationships/presProps" Target="/ppt/presProps.xml" Id="Rc1c6461c16d14f2b" /><Relationship Type="http://schemas.openxmlformats.org/officeDocument/2006/relationships/tableStyles" Target="/ppt/tableStyles.xml" Id="R25575a743c574a76" /><Relationship Type="http://schemas.openxmlformats.org/officeDocument/2006/relationships/slide" Target="/ppt/slides/slide1.xml" Id="Ref9b9ed143194b68" /><Relationship Type="http://schemas.openxmlformats.org/officeDocument/2006/relationships/slide" Target="/ppt/slides/slide2.xml" Id="Rb51d4a025bc84d43" /><Relationship Type="http://schemas.openxmlformats.org/officeDocument/2006/relationships/slide" Target="/ppt/slides/slide3.xml" Id="Re85cc8f12ce94499" /><Relationship Type="http://schemas.openxmlformats.org/officeDocument/2006/relationships/slide" Target="/ppt/slides/slide4.xml" Id="R475fcfca348d43a0" /><Relationship Type="http://schemas.openxmlformats.org/officeDocument/2006/relationships/slide" Target="/ppt/slides/slide5.xml" Id="R2d7fea2f0ad247b4" /><Relationship Type="http://schemas.openxmlformats.org/officeDocument/2006/relationships/slide" Target="/ppt/slides/slide6.xml" Id="Re3bf352f83df4b2e" /><Relationship Type="http://schemas.openxmlformats.org/officeDocument/2006/relationships/slide" Target="/ppt/slides/slide7.xml" Id="R3a7720606aa442aa" /><Relationship Type="http://schemas.openxmlformats.org/officeDocument/2006/relationships/slide" Target="/ppt/slides/slide8.xml" Id="R19b6ef526a494b49" /><Relationship Type="http://schemas.openxmlformats.org/officeDocument/2006/relationships/slide" Target="/ppt/slides/slide9.xml" Id="Rdc4fa51535f4434a" /><Relationship Type="http://schemas.openxmlformats.org/officeDocument/2006/relationships/slide" Target="/ppt/slides/slide10.xml" Id="R3670bd4ab21e44ed" /><Relationship Type="http://schemas.openxmlformats.org/officeDocument/2006/relationships/slide" Target="/ppt/slides/slide11.xml" Id="R7458882531024c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e6cb6817f4c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004bf644f24db6" /><Relationship Type="http://schemas.openxmlformats.org/officeDocument/2006/relationships/notesMaster" Target="/ppt/notesMasters/notesMaster1.xml" Id="Rb0dde1a22d63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143c66f6c44a96" /><Relationship Type="http://schemas.openxmlformats.org/officeDocument/2006/relationships/notesMaster" Target="/ppt/notesMasters/notesMaster1.xml" Id="Rd41b9722190340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62f2ba46745d3" /><Relationship Type="http://schemas.openxmlformats.org/officeDocument/2006/relationships/notesMaster" Target="/ppt/notesMasters/notesMaster1.xml" Id="Rd38cce140bcd48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f9a7a0d75c45a0" /><Relationship Type="http://schemas.openxmlformats.org/officeDocument/2006/relationships/notesMaster" Target="/ppt/notesMasters/notesMaster1.xml" Id="R369f3baea75f4f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36859691534353" /><Relationship Type="http://schemas.openxmlformats.org/officeDocument/2006/relationships/notesMaster" Target="/ppt/notesMasters/notesMaster1.xml" Id="R2b003c57f2bf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ff5e9a61646ba" /><Relationship Type="http://schemas.openxmlformats.org/officeDocument/2006/relationships/notesMaster" Target="/ppt/notesMasters/notesMaster1.xml" Id="R69a053b41e9645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e3d83bf2849a0" /><Relationship Type="http://schemas.openxmlformats.org/officeDocument/2006/relationships/notesMaster" Target="/ppt/notesMasters/notesMaster1.xml" Id="R1d253ff0ba8f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0057e4df54a67" /><Relationship Type="http://schemas.openxmlformats.org/officeDocument/2006/relationships/notesMaster" Target="/ppt/notesMasters/notesMaster1.xml" Id="Rb4de32b5557442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ae43e437c44e6" /><Relationship Type="http://schemas.openxmlformats.org/officeDocument/2006/relationships/notesMaster" Target="/ppt/notesMasters/notesMaster1.xml" Id="R0a21e8a9a8f14b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334202cf04c68" /><Relationship Type="http://schemas.openxmlformats.org/officeDocument/2006/relationships/notesMaster" Target="/ppt/notesMasters/notesMaster1.xml" Id="Ra47741c2f50f4a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be074df10b4761" /><Relationship Type="http://schemas.openxmlformats.org/officeDocument/2006/relationships/notesMaster" Target="/ppt/notesMasters/notesMaster1.xml" Id="Rab87bbb888a54c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approved identity thesis in an image-light, sparse editorial composition. External references informed spacing and hierarchy only; no external assets were copied.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/Users/dyrane/Documents/ChatGPT/justurbanwears/design/identity-2026/identity-spec.json</a:t>
            </a:r>
          </a:p>
          <a:p xmlns:a="http://schemas.openxmlformats.org/drawingml/2006/main">
            <a:r>
              <a:t>- /Users/dyrane/Documents/ChatGPT/justurbanwears/design/identity-2026/exports/wordmark-cocoa-1620.png</a:t>
            </a:r>
          </a:p>
          <a:p xmlns:a="http://schemas.openxmlformats.org/drawingml/2006/main">
            <a:r>
              <a:t>- /Users/dyrane/Documents/ChatGPT/justurbanwears/design/identity-2026/exports/mark-coral.svg</a:t>
            </a:r>
          </a:p>
          <a:p xmlns:a="http://schemas.openxmlformats.org/drawingml/2006/main">
            <a:r>
              <a:t>- https://www.zara.com/us/en/woman-mkt1000.html</a:t>
            </a:r>
          </a:p>
          <a:p xmlns:a="http://schemas.openxmlformats.org/drawingml/2006/main">
            <a:r>
              <a:t>- https://www.fashionnova.com/</a:t>
            </a:r>
          </a:p>
          <a:p xmlns:a="http://schemas.openxmlformats.org/drawingml/2006/main">
            <a:r>
              <a:t>- https://www.apple.com/home-app/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restrained specimen board proving exact light/dark, monochrome, clear-space, minimum-size, favicon, avatar and palette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/Users/dyrane/Documents/ChatGPT/justurbanwears/design/identity-2026/identity-spec.json</a:t>
            </a:r>
          </a:p>
          <a:p xmlns:a="http://schemas.openxmlformats.org/drawingml/2006/main">
            <a:r>
              <a:t>- /Users/dyrane/Documents/ChatGPT/justurbanwears/design/identity-2026/README.md</a:t>
            </a:r>
          </a:p>
          <a:p xmlns:a="http://schemas.openxmlformats.org/drawingml/2006/main">
            <a:r>
              <a:t>- /Users/dyrane/Documents/ChatGPT/justurbanwears/design/identity-2026/exports/wordmark-cocoa-1620.png</a:t>
            </a:r>
          </a:p>
          <a:p xmlns:a="http://schemas.openxmlformats.org/drawingml/2006/main">
            <a:r>
              <a:t>- /Users/dyrane/Documents/ChatGPT/justurbanwears/design/identity-2026/exports/wordmark-white.svg</a:t>
            </a:r>
          </a:p>
          <a:p xmlns:a="http://schemas.openxmlformats.org/drawingml/2006/main">
            <a:r>
              <a:t>- /Users/dyrane/Documents/ChatGPT/justurbanwears/design/identity-2026/exports/mark-cocoa-1024.png</a:t>
            </a:r>
          </a:p>
          <a:p xmlns:a="http://schemas.openxmlformats.org/drawingml/2006/main">
            <a:r>
              <a:t>- /Users/dyrane/Documents/ChatGPT/justurbanwears/design/identity-2026/exports/mark-black-1024.png</a:t>
            </a:r>
          </a:p>
          <a:p xmlns:a="http://schemas.openxmlformats.org/drawingml/2006/main">
            <a:r>
              <a:t>- /Users/dyrane/Documents/ChatGPT/justurbanwears/design/identity-2026/exports/mark-white.svg</a:t>
            </a:r>
          </a:p>
          <a:p xmlns:a="http://schemas.openxmlformats.org/drawingml/2006/main">
            <a:r>
              <a:t>- /Users/dyrane/Documents/ChatGPT/justurbanwears/design/identity-2026/exports/mark-coral.svg</a:t>
            </a:r>
          </a:p>
          <a:p xmlns:a="http://schemas.openxmlformats.org/drawingml/2006/main">
            <a:r>
              <a:t>- /Users/dyrane/Documents/ChatGPT/justurbanwears/design/identity-2026/exports/favicon-48.png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try-on is a presentation composite based on the approved V3 identity master and exact JUW-001 garment authority. It is not an approved catalogue frame or documentary shoot; all SKU facts come from the authoritative catalogue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/Users/dyrane/Documents/ChatGPT/justurbanwears/.tmp/identity-presentation-019fef2e/assets/coral-drift-dress-model-v3-presentation.png</a:t>
            </a:r>
          </a:p>
          <a:p xmlns:a="http://schemas.openxmlformats.org/drawingml/2006/main">
            <a:r>
              <a:t>- /Users/dyrane/Documents/ChatGPT/justurbanwears/storage/models/konan/canon/lulu-neutral-identity-master-v3-approved.png</a:t>
            </a:r>
          </a:p>
          <a:p xmlns:a="http://schemas.openxmlformats.org/drawingml/2006/main">
            <a:r>
              <a:t>- /Users/dyrane/Documents/ChatGPT/justurbanwears/public/shop/products/coral-drift-dress/01-garment-front.webp</a:t>
            </a:r>
          </a:p>
          <a:p xmlns:a="http://schemas.openxmlformats.org/drawingml/2006/main">
            <a:r>
              <a:t>- /Users/dyrane/Documents/ChatGPT/justurbanwears/design/identity-2026/exports/wordmark-cocoa-1620.png</a:t>
            </a:r>
          </a:p>
          <a:p xmlns:a="http://schemas.openxmlformats.org/drawingml/2006/main">
            <a:r>
              <a:t>- /Users/dyrane/Documents/ChatGPT/justurbanwears/scripts/shop-db/catalogue-manifest.mjs</a:t>
            </a:r>
          </a:p>
          <a:p xmlns:a="http://schemas.openxmlformats.org/drawingml/2006/main">
            <a:r>
              <a:t>- /Users/dyrane/Documents/ChatGPT/justurbanwears/lib/wardrobe-public-view/seeds.ts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visible product fact is copied from the authoritative JUW-001 catalogue record. The original-brand value is absent and therefore shown as not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/Users/dyrane/Documents/ChatGPT/justurbanwears/scripts/shop-db/catalogue-manifest.mjs</a:t>
            </a:r>
          </a:p>
          <a:p xmlns:a="http://schemas.openxmlformats.org/drawingml/2006/main">
            <a:r>
              <a:t>- /Users/dyrane/Documents/ChatGPT/justurbanwears/public/shop/products/coral-drift-dress/01-garment-front.webp</a:t>
            </a:r>
          </a:p>
          <a:p xmlns:a="http://schemas.openxmlformats.org/drawingml/2006/main">
            <a:r>
              <a:t>- /Users/dyrane/Documents/ChatGPT/justurbanwears/public/shop/products/coral-drift-dress/06-fabric-detail.webp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application only. It makes the removable provenance tag visibly separate from the untouched original maker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/Users/dyrane/Documents/ChatGPT/justurbanwears/.tmp/identity-presentation-019fef2e/assets/provenance-concept.png</a:t>
            </a:r>
          </a:p>
          <a:p xmlns:a="http://schemas.openxmlformats.org/drawingml/2006/main">
            <a:r>
              <a:t>- /Users/dyrane/Documents/ChatGPT/justurbanwears/design/identity-2026/exports/mark-white.svg</a:t>
            </a:r>
          </a:p>
          <a:p xmlns:a="http://schemas.openxmlformats.org/drawingml/2006/main">
            <a:r>
              <a:t>- /Users/dyrane/Documents/ChatGPT/justurbanwears/design/identity-2026/README.md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process visual only. The record fields shown elsewhere are real; the image is not claimed as documentary evidence of Lulu at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/Users/dyrane/Documents/ChatGPT/justurbanwears/.tmp/identity-presentation-019fef2e/assets/behind-edit-concept.png</a:t>
            </a:r>
          </a:p>
          <a:p xmlns:a="http://schemas.openxmlformats.org/drawingml/2006/main">
            <a:r>
              <a:t>- /Users/dyrane/Documents/ChatGPT/justurbanwears/lib/studio/domain/entities.ts</a:t>
            </a:r>
          </a:p>
          <a:p xmlns:a="http://schemas.openxmlformats.org/drawingml/2006/main">
            <a:r>
              <a:t>- /Users/dyrane/Documents/ChatGPT/justurbanwears/scripts/shop-db/catalogue-manifest.mjs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Packaging application concept. Blank mock objects are combined with the exact production wordmark in-slide; no implemented packaging inventory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/Users/dyrane/Documents/ChatGPT/justurbanwears/.tmp/identity-presentation-019fef2e/assets/packaging-concept.png</a:t>
            </a:r>
          </a:p>
          <a:p xmlns:a="http://schemas.openxmlformats.org/drawingml/2006/main">
            <a:r>
              <a:t>- /Users/dyrane/Documents/ChatGPT/justurbanwears/design/identity-2026/exports/mark-cocoa-1024.png</a:t>
            </a:r>
          </a:p>
          <a:p xmlns:a="http://schemas.openxmlformats.org/drawingml/2006/main">
            <a:r>
              <a:t>- /Users/dyrane/Documents/ChatGPT/justurbanwears/design/identity-2026/exports/wordmark-white.svg</a:t>
            </a:r>
          </a:p>
          <a:p xmlns:a="http://schemas.openxmlformats.org/drawingml/2006/main">
            <a:r>
              <a:t>- /Users/dyrane/Documents/ChatGPT/justurbanwears/design/identity-2026/exports/wordmark-cocoa-1620.png</a:t>
            </a:r>
          </a:p>
          <a:p xmlns:a="http://schemas.openxmlformats.org/drawingml/2006/main">
            <a:r>
              <a:t>- /Users/dyrane/Documents/ChatGPT/justurbanwears/design/identity-2026/identity-spec.json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Apple-like device proof. The desktop chrome and copy are a real current app capture; only the retired hero image is covered in-slide by a V3 presentation composite based on the approved identity master and exact JUW-001 garment authority. The app/product assets are not overwritten. The mobile PDP capture is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/Users/dyrane/Documents/ChatGPT/justurbanwears/.tmp/identity-presentation-019fef2e/assets/storefront-desktop.png</a:t>
            </a:r>
          </a:p>
          <a:p xmlns:a="http://schemas.openxmlformats.org/drawingml/2006/main">
            <a:r>
              <a:t>- /Users/dyrane/Documents/ChatGPT/justurbanwears/.tmp/identity-presentation-019fef2e/assets/coral-drift-dress-model-v3-presentation.png</a:t>
            </a:r>
          </a:p>
          <a:p xmlns:a="http://schemas.openxmlformats.org/drawingml/2006/main">
            <a:r>
              <a:t>- /Users/dyrane/Documents/ChatGPT/justurbanwears/storage/models/konan/canon/lulu-neutral-identity-master-v3-approved.png</a:t>
            </a:r>
          </a:p>
          <a:p xmlns:a="http://schemas.openxmlformats.org/drawingml/2006/main">
            <a:r>
              <a:t>- /Users/dyrane/Documents/ChatGPT/justurbanwears/public/shop/products/coral-drift-dress/01-garment-front.webp</a:t>
            </a:r>
          </a:p>
          <a:p xmlns:a="http://schemas.openxmlformats.org/drawingml/2006/main">
            <a:r>
              <a:t>- /Users/dyrane/Documents/ChatGPT/justurbanwears/.tmp/identity-presentation-019fef2e/assets/product-mobile.png</a:t>
            </a:r>
          </a:p>
          <a:p xmlns:a="http://schemas.openxmlformats.org/drawingml/2006/main">
            <a:r>
              <a:t>- /Users/dyrane/Documents/ChatGPT/justurbanwears/design/identity-2026/exports/mark-coral.svg</a:t>
            </a:r>
          </a:p>
          <a:p xmlns:a="http://schemas.openxmlformats.org/drawingml/2006/main">
            <a:r>
              <a:t>- /Users/dyrane/Documents/ChatGPT/justurbanwears/design/identity-2026/exports/favicon-48.png</a:t>
            </a:r>
          </a:p>
          <a:p xmlns:a="http://schemas.openxmlformats.org/drawingml/2006/main">
            <a:r>
              <a:t>- http://localhost:3000/shop (captured 2026-08-11)</a:t>
            </a:r>
          </a:p>
          <a:p xmlns:a="http://schemas.openxmlformats.org/drawingml/2006/main">
            <a:r>
              <a:t>- http://localhost:3000/shop/products/coral-drift-dress (captured 2026-08-11)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story treatments are explicitly labeled concepts. The model treatment is a V3 presentation composite based on the approved identity master and exact JUW-001 garment authority, not published social media or documentary catalogue media; the garment treatment uses the exact SKU image. The checkout is a real production capture after adding the one-off piece locally; no form was submitted and no message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/Users/dyrane/Documents/ChatGPT/justurbanwears/.tmp/identity-presentation-019fef2e/assets/coral-drift-dress-model-v3-presentation.png</a:t>
            </a:r>
          </a:p>
          <a:p xmlns:a="http://schemas.openxmlformats.org/drawingml/2006/main">
            <a:r>
              <a:t>- /Users/dyrane/Documents/ChatGPT/justurbanwears/storage/models/konan/canon/lulu-neutral-identity-master-v3-approved.png</a:t>
            </a:r>
          </a:p>
          <a:p xmlns:a="http://schemas.openxmlformats.org/drawingml/2006/main">
            <a:r>
              <a:t>- /Users/dyrane/Documents/ChatGPT/justurbanwears/public/shop/products/coral-drift-dress/01-garment-front.webp</a:t>
            </a:r>
          </a:p>
          <a:p xmlns:a="http://schemas.openxmlformats.org/drawingml/2006/main">
            <a:r>
              <a:t>- /Users/dyrane/Documents/ChatGPT/justurbanwears/design/identity-2026/exports/wordmark-cocoa-1620.png</a:t>
            </a:r>
          </a:p>
          <a:p xmlns:a="http://schemas.openxmlformats.org/drawingml/2006/main">
            <a:r>
              <a:t>- /Users/dyrane/Documents/ChatGPT/justurbanwears/.tmp/identity-presentation-019fef2e/assets/whatsapp-checkout-desktop-detail.png</a:t>
            </a:r>
          </a:p>
          <a:p xmlns:a="http://schemas.openxmlformats.org/drawingml/2006/main">
            <a:r>
              <a:t>- /Users/dyrane/Documents/ChatGPT/justurbanwears/scripts/shop-db/catalogue-manifest.mjs</a:t>
            </a:r>
          </a:p>
          <a:p xmlns:a="http://schemas.openxmlformats.org/drawingml/2006/main">
            <a:r>
              <a:t>- https://www.justurbanwears.com/shop/checkout (captured 2026-08-11; local browser bag only; no submission)</a:t>
            </a:r>
          </a:p>
          <a:p xmlns:a="http://schemas.openxmlformats.org/drawingml/2006/main">
            <a:r>
              <a:t>- /Users/dyrane/Documents/ChatGPT/justurbanwears/components/shop/shop-checkout.tsx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city visual is a clearly labeled concept. Studio pickup and Lagos-delivery wording are real checkout options; no actual customer/courier event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/Users/dyrane/Documents/ChatGPT/justurbanwears/.tmp/identity-presentation-019fef2e/assets/lagos-handoff-concept.png</a:t>
            </a:r>
          </a:p>
          <a:p xmlns:a="http://schemas.openxmlformats.org/drawingml/2006/main">
            <a:r>
              <a:t>- /Users/dyrane/Documents/ChatGPT/justurbanwears/components/shop/shop-checkout.tsx</a:t>
            </a:r>
          </a:p>
          <a:p xmlns:a="http://schemas.openxmlformats.org/drawingml/2006/main">
            <a:r>
              <a:t>- /Users/dyrane/Documents/ChatGPT/justurbanwears/lib/shop/commerce.ts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closing visual, explicitly labeled Future campaign concept. The environment is generated; the applied wordmark is exact production artwork. The visible try-on is a V3 presentation composite based on the approved identity master and exact JUW-001 garment authority, not documentary catalogue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/Users/dyrane/Documents/ChatGPT/justurbanwears/.tmp/identity-presentation-019fef2e/assets/street-poster-concept.png</a:t>
            </a:r>
          </a:p>
          <a:p xmlns:a="http://schemas.openxmlformats.org/drawingml/2006/main">
            <a:r>
              <a:t>- /Users/dyrane/Documents/ChatGPT/justurbanwears/design/identity-2026/exports/wordmark-cocoa-1620.png</a:t>
            </a:r>
          </a:p>
          <a:p xmlns:a="http://schemas.openxmlformats.org/drawingml/2006/main">
            <a:r>
              <a:t>- /Users/dyrane/Documents/ChatGPT/justurbanwears/.tmp/identity-presentation-019fef2e/assets/coral-drift-dress-model-v3-presentation.png</a:t>
            </a:r>
          </a:p>
          <a:p xmlns:a="http://schemas.openxmlformats.org/drawingml/2006/main">
            <a:r>
              <a:t>- /Users/dyrane/Documents/ChatGPT/justurbanwears/storage/models/konan/canon/lulu-neutral-identity-master-v3-approved.png</a:t>
            </a:r>
          </a:p>
          <a:p xmlns:a="http://schemas.openxmlformats.org/drawingml/2006/main">
            <a:r>
              <a:t>- /Users/dyrane/Documents/ChatGPT/justurbanwears/public/shop/products/coral-drift-dress/01-garment-front.webp</a:t>
            </a:r>
          </a:p>
          <a:p xmlns:a="http://schemas.openxmlformats.org/drawingml/2006/main">
            <a:r>
              <a:t>- /Users/dyrane/Documents/ChatGPT/justurbanwears/scripts/shop-db/catalogue-manifest.mjs</a:t>
            </a:r>
          </a:p>
          <a:p xmlns:a="http://schemas.openxmlformats.org/drawingml/2006/main">
            <a:r>
              <a:t>- /Users/dyrane/Documents/ChatGPT/justurbanwears/design/identity-2026/identity-spec.json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200aac28842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c3244373548d0" /><Relationship Type="http://schemas.openxmlformats.org/officeDocument/2006/relationships/slideLayout" Target="/ppt/slideLayouts/slideLayout1.xml" Id="Rf7bfac0bf66c4a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bfac0bf66c4a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507afcbe04d37" /><Relationship Type="http://schemas.openxmlformats.org/officeDocument/2006/relationships/image" Target="/ppt/media/image.png" Id="R2d740296377b425d" /><Relationship Type="http://schemas.openxmlformats.org/officeDocument/2006/relationships/image" Target="/ppt/media/image2.png" Id="R316bea9d8d9247b2" /><Relationship Type="http://schemas.openxmlformats.org/officeDocument/2006/relationships/image" Target="/ppt/media/image.svg" Id="R285e14bb78ea481a" /><Relationship Type="http://schemas.openxmlformats.org/officeDocument/2006/relationships/notesSlide" Target="/ppt/notesSlides/notesSlide1.xml" Id="Rf4fa1cab2cb047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79beccae4e71" /><Relationship Type="http://schemas.openxmlformats.org/officeDocument/2006/relationships/image" Target="/ppt/media/image3.png" Id="R459158a4e47545d4" /><Relationship Type="http://schemas.openxmlformats.org/officeDocument/2006/relationships/image" Target="/ppt/media/image4.png" Id="R8042377ffcfb4913" /><Relationship Type="http://schemas.openxmlformats.org/officeDocument/2006/relationships/image" Target="/ppt/media/image5.png" Id="R0347ce74a60a4bf4" /><Relationship Type="http://schemas.openxmlformats.org/officeDocument/2006/relationships/image" Target="/ppt/media/image2.svg" Id="R7395caea1d0a404c" /><Relationship Type="http://schemas.openxmlformats.org/officeDocument/2006/relationships/image" Target="/ppt/media/image6.png" Id="R07d891e3c67740d8" /><Relationship Type="http://schemas.openxmlformats.org/officeDocument/2006/relationships/image" Target="/ppt/media/image3.svg" Id="Ra2aa98a8bbcc4a74" /><Relationship Type="http://schemas.openxmlformats.org/officeDocument/2006/relationships/image" Target="/ppt/media/image7.png" Id="R67ea8d41061b4c50" /><Relationship Type="http://schemas.openxmlformats.org/officeDocument/2006/relationships/image" Target="/ppt/media/image8.png" Id="R0eb10b67c16e4682" /><Relationship Type="http://schemas.openxmlformats.org/officeDocument/2006/relationships/image" Target="/ppt/media/image9.png" Id="Rbbd425f98677437e" /><Relationship Type="http://schemas.openxmlformats.org/officeDocument/2006/relationships/image" Target="/ppt/media/image10.png" Id="Rb528aed460c84c99" /><Relationship Type="http://schemas.openxmlformats.org/officeDocument/2006/relationships/image" Target="/ppt/media/image11.png" Id="R93fcf4b8e08f4e8c" /><Relationship Type="http://schemas.openxmlformats.org/officeDocument/2006/relationships/image" Target="/ppt/media/image4.svg" Id="R9c4a9183a570491a" /><Relationship Type="http://schemas.openxmlformats.org/officeDocument/2006/relationships/image" Target="/ppt/media/image12.png" Id="R28f677bb34634b6d" /><Relationship Type="http://schemas.openxmlformats.org/officeDocument/2006/relationships/notesSlide" Target="/ppt/notesSlides/notesSlide2.xml" Id="Rcfb859c650e045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f13be5acf4b9f" /><Relationship Type="http://schemas.openxmlformats.org/officeDocument/2006/relationships/image" Target="/ppt/media/image13.png" Id="R86a72ca916e74eb5" /><Relationship Type="http://schemas.openxmlformats.org/officeDocument/2006/relationships/image" Target="/ppt/media/image14.png" Id="Rdd7a1618cb594b9a" /><Relationship Type="http://schemas.openxmlformats.org/officeDocument/2006/relationships/notesSlide" Target="/ppt/notesSlides/notesSlide3.xml" Id="R3874db2b36634c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8a392829f44f5" /><Relationship Type="http://schemas.openxmlformats.org/officeDocument/2006/relationships/image" Target="/ppt/media/image.bin" Id="Ref0b4f55b6054364" /><Relationship Type="http://schemas.openxmlformats.org/officeDocument/2006/relationships/image" Target="/ppt/media/image2.bin" Id="R33004236dc0146ed" /><Relationship Type="http://schemas.openxmlformats.org/officeDocument/2006/relationships/notesSlide" Target="/ppt/notesSlides/notesSlide4.xml" Id="Rc49900969caf45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35576c27244d8" /><Relationship Type="http://schemas.openxmlformats.org/officeDocument/2006/relationships/image" Target="/ppt/media/image15.png" Id="R218ee092bd0543d5" /><Relationship Type="http://schemas.openxmlformats.org/officeDocument/2006/relationships/image" Target="/ppt/media/image16.png" Id="R2ab05aae751144c2" /><Relationship Type="http://schemas.openxmlformats.org/officeDocument/2006/relationships/image" Target="/ppt/media/image5.svg" Id="R37c5b484021b4b1b" /><Relationship Type="http://schemas.openxmlformats.org/officeDocument/2006/relationships/notesSlide" Target="/ppt/notesSlides/notesSlide5.xml" Id="Rb0372353fb0c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ec8de73147b6" /><Relationship Type="http://schemas.openxmlformats.org/officeDocument/2006/relationships/image" Target="/ppt/media/image17.png" Id="Rae754237948b435e" /><Relationship Type="http://schemas.openxmlformats.org/officeDocument/2006/relationships/notesSlide" Target="/ppt/notesSlides/notesSlide6.xml" Id="R970a9e3ef22c4e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c0b0c12b94dce" /><Relationship Type="http://schemas.openxmlformats.org/officeDocument/2006/relationships/image" Target="/ppt/media/image18.png" Id="R3ee99fd696024a5f" /><Relationship Type="http://schemas.openxmlformats.org/officeDocument/2006/relationships/image" Target="/ppt/media/image19.png" Id="Rc296b8da0e024310" /><Relationship Type="http://schemas.openxmlformats.org/officeDocument/2006/relationships/image" Target="/ppt/media/image6.svg" Id="Rbcb8bfd5047c4c46" /><Relationship Type="http://schemas.openxmlformats.org/officeDocument/2006/relationships/image" Target="/ppt/media/image20.png" Id="R7007969da1634920" /><Relationship Type="http://schemas.openxmlformats.org/officeDocument/2006/relationships/image" Target="/ppt/media/image21.png" Id="R813cf25375fe4f03" /><Relationship Type="http://schemas.openxmlformats.org/officeDocument/2006/relationships/image" Target="/ppt/media/image22.png" Id="R7964e2623a4c4b88" /><Relationship Type="http://schemas.openxmlformats.org/officeDocument/2006/relationships/image" Target="/ppt/media/image23.png" Id="R800656abe2ca4bf9" /><Relationship Type="http://schemas.openxmlformats.org/officeDocument/2006/relationships/notesSlide" Target="/ppt/notesSlides/notesSlide7.xml" Id="Rda716add09e542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9c2fa3f824365" /><Relationship Type="http://schemas.openxmlformats.org/officeDocument/2006/relationships/image" Target="/ppt/media/image.jpeg" Id="R98177fe02bef4419" /><Relationship Type="http://schemas.openxmlformats.org/officeDocument/2006/relationships/image" Target="/ppt/media/image24.png" Id="Reb992769db8c4c9e" /><Relationship Type="http://schemas.openxmlformats.org/officeDocument/2006/relationships/image" Target="/ppt/media/image2.jpeg" Id="R2c53fe3eb30f448b" /><Relationship Type="http://schemas.openxmlformats.org/officeDocument/2006/relationships/image" Target="/ppt/media/image25.png" Id="R58b1cc884f20442c" /><Relationship Type="http://schemas.openxmlformats.org/officeDocument/2006/relationships/image" Target="/ppt/media/image7.svg" Id="R212e7d2543a241af" /><Relationship Type="http://schemas.openxmlformats.org/officeDocument/2006/relationships/image" Target="/ppt/media/image26.png" Id="Rbcafd5b034bd4236" /><Relationship Type="http://schemas.openxmlformats.org/officeDocument/2006/relationships/notesSlide" Target="/ppt/notesSlides/notesSlide8.xml" Id="R4dc4a860766f4c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88075d4604ba2" /><Relationship Type="http://schemas.openxmlformats.org/officeDocument/2006/relationships/image" Target="/ppt/media/image27.png" Id="Rad4859a411c94777" /><Relationship Type="http://schemas.openxmlformats.org/officeDocument/2006/relationships/image" Target="/ppt/media/image28.png" Id="R06456ef9fd2c4f64" /><Relationship Type="http://schemas.openxmlformats.org/officeDocument/2006/relationships/image" Target="/ppt/media/image3.bin" Id="Rff292779ac5c42d5" /><Relationship Type="http://schemas.openxmlformats.org/officeDocument/2006/relationships/image" Target="/ppt/media/image3.jpeg" Id="Rc1c53bab27b44637" /><Relationship Type="http://schemas.openxmlformats.org/officeDocument/2006/relationships/notesSlide" Target="/ppt/notesSlides/notesSlide9.xml" Id="Rcbfbd155570c44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5373bed274562" /><Relationship Type="http://schemas.openxmlformats.org/officeDocument/2006/relationships/image" Target="/ppt/media/image29.png" Id="R2b07076e63924368" /><Relationship Type="http://schemas.openxmlformats.org/officeDocument/2006/relationships/notesSlide" Target="/ppt/notesSlides/notesSlide10.xml" Id="R7df28945d1e247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51e69b746462d" /><Relationship Type="http://schemas.openxmlformats.org/officeDocument/2006/relationships/image" Target="/ppt/media/image30.png" Id="R5976e81dfb6c4460" /><Relationship Type="http://schemas.openxmlformats.org/officeDocument/2006/relationships/image" Target="/ppt/media/image31.png" Id="R22c2e6c6e6394305" /><Relationship Type="http://schemas.openxmlformats.org/officeDocument/2006/relationships/image" Target="/ppt/media/image32.png" Id="R7e0b07ecb78b49fe" /><Relationship Type="http://schemas.openxmlformats.org/officeDocument/2006/relationships/notesSlide" Target="/ppt/notesSlides/notesSlide11.xml" Id="R1854f38d704a47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40296377b425d"/>
          <a:stretch xmlns:a="http://schemas.openxmlformats.org/drawingml/2006/main"/>
        </p:blipFill>
        <p:spPr>
          <a:xfrm xmlns:a="http://schemas.openxmlformats.org/drawingml/2006/main">
            <a:off x="3943350" y="537045"/>
            <a:ext cx="4305300" cy="983309"/>
          </a:xfrm>
          <a:prstGeom xmlns:a="http://schemas.openxmlformats.org/drawingml/2006/main" prst="rect">
            <a:avLst/>
          </a:prstGeom>
        </p:spPr>
      </p:pic>
      <p:sp>
        <p:nvSpPr>
          <p:cNvPr id="2" name="coral-tick-626-190">
            <a:extLst xmlns:a="http://schemas.openxmlformats.org/drawingml/2006/main">
              <a:ext uri="{FF2B5EF4-FFF2-40B4-BE49-F238E27FC236}">
                <a16:creationId xmlns:a16="http://schemas.microsoft.com/office/drawing/2014/main" id="{09C9C664-E03E-4B50-840F-A93C5046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AE5B099B-BCEE-4D1B-B953-F4AF3DB3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46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Clothes with a</a:t>
            </a:r>
          </a:p>
          <a:p xmlns:a="http://schemas.openxmlformats.org/drawingml/2006/main">
            <a:pPr algn="ctr">
              <a:defRPr sz="46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46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second first impression.</a:t>
            </a:r>
          </a:p>
        </p:txBody>
      </p:sp>
      <p:sp>
        <p:nvSpPr>
          <p:cNvPr id="4" name="s1-descriptor">
            <a:extLst xmlns:a="http://schemas.openxmlformats.org/drawingml/2006/main">
              <a:ext uri="{FF2B5EF4-FFF2-40B4-BE49-F238E27FC236}">
                <a16:creationId xmlns:a16="http://schemas.microsoft.com/office/drawing/2014/main" id="{9ECD9D1E-B7A0-4FD6-889F-BE50C4D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One-off urban womenswear from Lulu’s wardrobe, ready to move through the city.</a:t>
            </a:r>
          </a:p>
        </p:txBody>
      </p:sp>
      <p:sp>
        <p:nvSpPr>
          <p:cNvPr id="5" name="s1-icon-field">
            <a:extLst xmlns:a="http://schemas.openxmlformats.org/drawingml/2006/main">
              <a:ext uri="{FF2B5EF4-FFF2-40B4-BE49-F238E27FC236}">
                <a16:creationId xmlns:a16="http://schemas.microsoft.com/office/drawing/2014/main" id="{6AA873B9-696D-4546-B912-5644F69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81550"/>
            <a:ext cx="10668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bea9d8d9247b2">
            <a:extLst>
              <a:ext uri="{96DAC541-7B7A-43D3-8B79-37D633B846F1}">
                <asvg:svgBlip xmlns:asvg="http://schemas.microsoft.com/office/drawing/2016/SVG/main" r:embed="R285e14bb78ea48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50482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01606-F382-45C9-9E3C-0E218CDD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055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FULL NAME FOR THE BRAND · JU/W FOR SMALL SPACES</a:t>
            </a:r>
          </a:p>
        </p:txBody>
      </p:sp>
      <p:sp>
        <p:nvSpPr>
          <p:cNvPr id="8" name="s1-cocoa-swatch">
            <a:extLst xmlns:a="http://schemas.openxmlformats.org/drawingml/2006/main">
              <a:ext uri="{FF2B5EF4-FFF2-40B4-BE49-F238E27FC236}">
                <a16:creationId xmlns:a16="http://schemas.microsoft.com/office/drawing/2014/main" id="{5AC2C67C-DD60-4BEE-B119-5E78EDF4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22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CACB3-6A35-456F-BB4E-B1FBD83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172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Cocoa</a:t>
            </a:r>
          </a:p>
        </p:txBody>
      </p:sp>
      <p:sp>
        <p:nvSpPr>
          <p:cNvPr id="10" name="s1-coral-swatch">
            <a:extLst xmlns:a="http://schemas.openxmlformats.org/drawingml/2006/main">
              <a:ext uri="{FF2B5EF4-FFF2-40B4-BE49-F238E27FC236}">
                <a16:creationId xmlns:a16="http://schemas.microsoft.com/office/drawing/2014/main" id="{CD4FF123-5B6F-4AC7-ACFF-6B20C7B1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22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6F7CE-DD66-4D14-BE96-FEB9623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172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Coral</a:t>
            </a:r>
          </a:p>
        </p:txBody>
      </p:sp>
      <p:sp>
        <p:nvSpPr>
          <p:cNvPr id="12" name="s1-paper-swatch">
            <a:extLst xmlns:a="http://schemas.openxmlformats.org/drawingml/2006/main">
              <a:ext uri="{FF2B5EF4-FFF2-40B4-BE49-F238E27FC236}">
                <a16:creationId xmlns:a16="http://schemas.microsoft.com/office/drawing/2014/main" id="{B9F69F83-8A44-449B-900D-A640439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22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CD6C7-1EF7-4EC6-969A-D948E7C5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1722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Warm paper</a:t>
            </a:r>
          </a:p>
        </p:txBody>
      </p:sp>
      <p:sp>
        <p:nvSpPr>
          <p:cNvPr id="14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53C9220E-6956-4C1F-9F63-A7971F30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41F81-17E2-4301-A093-BEE0DB7F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80401-8149-4502-A853-FD23806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0078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BD3066-F295-48B6-9CCE-1376312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BRAND PROOF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8F6A3291-AC3A-4BE5-B1C4-5B735223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1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The brand, from full name to tiny icon.</a:t>
            </a:r>
          </a:p>
        </p:txBody>
      </p:sp>
      <p:sp>
        <p:nvSpPr>
          <p:cNvPr id="3" name="coral-tick-64-134">
            <a:extLst xmlns:a="http://schemas.openxmlformats.org/drawingml/2006/main">
              <a:ext uri="{FF2B5EF4-FFF2-40B4-BE49-F238E27FC236}">
                <a16:creationId xmlns:a16="http://schemas.microsoft.com/office/drawing/2014/main" id="{2C981515-1B0C-4C22-A024-38D7847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light">
            <a:extLst xmlns:a="http://schemas.openxmlformats.org/drawingml/2006/main">
              <a:ext uri="{FF2B5EF4-FFF2-40B4-BE49-F238E27FC236}">
                <a16:creationId xmlns:a16="http://schemas.microsoft.com/office/drawing/2014/main" id="{4213AC71-5BB3-4419-83C5-DF6EA8B0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219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578BF-F46B-4A38-8699-6323319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ON LIGHT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158a4e47545d4"/>
          <a:stretch xmlns:a="http://schemas.openxmlformats.org/drawingml/2006/main"/>
        </p:blipFill>
        <p:spPr>
          <a:xfrm xmlns:a="http://schemas.openxmlformats.org/drawingml/2006/main">
            <a:off x="819150" y="2114609"/>
            <a:ext cx="2209800" cy="504707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2377ffcfb4913"/>
          <a:stretch xmlns:a="http://schemas.openxmlformats.org/drawingml/2006/main"/>
        </p:blipFill>
        <p:spPr>
          <a:xfrm xmlns:a="http://schemas.openxmlformats.org/drawingml/2006/main">
            <a:off x="4686300" y="1847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8" name="s2-dark">
            <a:extLst xmlns:a="http://schemas.openxmlformats.org/drawingml/2006/main">
              <a:ext uri="{FF2B5EF4-FFF2-40B4-BE49-F238E27FC236}">
                <a16:creationId xmlns:a16="http://schemas.microsoft.com/office/drawing/2014/main" id="{2C29B9F4-D7A7-42B1-A2C8-B0D29862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5600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9EE9C-5C5D-40F2-A9B5-AFFC4744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D0C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9D0C9"/>
                </a:solidFill>
                <a:latin typeface="Avenir Next"/>
                <a:ea typeface="Avenir Next"/>
                <a:cs typeface="Avenir Next"/>
              </a:rPr>
              <a:t>WHITE ARTWORK · NO BACKGROUND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7ce74a60a4bf4">
            <a:extLst>
              <a:ext uri="{96DAC541-7B7A-43D3-8B79-37D633B846F1}">
                <asvg:svgBlip xmlns:asvg="http://schemas.microsoft.com/office/drawing/2016/SVG/main" r:embed="R7395caea1d0a40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2114550"/>
            <a:ext cx="2209800" cy="504825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91e3c67740d8">
            <a:extLst>
              <a:ext uri="{96DAC541-7B7A-43D3-8B79-37D633B846F1}">
                <asvg:svgBlip xmlns:asvg="http://schemas.microsoft.com/office/drawing/2016/SVG/main" r:embed="Ra2aa98a8bbcc4a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18478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4FDB6-376F-403F-8E93-E2EAF10B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GIVE IT ROOM</a:t>
            </a:r>
          </a:p>
        </p:txBody>
      </p:sp>
      <p:sp>
        <p:nvSpPr>
          <p:cNvPr id="13" name="s2-clear">
            <a:extLst xmlns:a="http://schemas.openxmlformats.org/drawingml/2006/main">
              <a:ext uri="{FF2B5EF4-FFF2-40B4-BE49-F238E27FC236}">
                <a16:creationId xmlns:a16="http://schemas.microsoft.com/office/drawing/2014/main" id="{C9D7CA2C-C64C-43A3-B0D6-0D0E71CD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276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sp>
        <p:nvSpPr>
          <p:cNvPr id="14" name="s2-clear-zone">
            <a:extLst xmlns:a="http://schemas.openxmlformats.org/drawingml/2006/main">
              <a:ext uri="{FF2B5EF4-FFF2-40B4-BE49-F238E27FC236}">
                <a16:creationId xmlns:a16="http://schemas.microsoft.com/office/drawing/2014/main" id="{E1F010F6-342C-4F57-B8C3-8B31D5D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1676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8A62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a8d41061b4c50"/>
          <a:stretch xmlns:a="http://schemas.openxmlformats.org/drawingml/2006/main"/>
        </p:blipFill>
        <p:spPr>
          <a:xfrm xmlns:a="http://schemas.openxmlformats.org/drawingml/2006/main">
            <a:off x="1771650" y="407670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78D10-E898-4C36-9111-D25E3496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DFBEE-3395-4498-AEDE-F91335F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Nothing crowds the JU/W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BBD4E-C534-4B4A-B2EE-B1FE1DCB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FULL NAME + SMALL ICON</a:t>
            </a:r>
          </a:p>
        </p:txBody>
      </p:sp>
      <p:sp>
        <p:nvSpPr>
          <p:cNvPr id="19" name="s2-min">
            <a:extLst xmlns:a="http://schemas.openxmlformats.org/drawingml/2006/main">
              <a:ext uri="{FF2B5EF4-FFF2-40B4-BE49-F238E27FC236}">
                <a16:creationId xmlns:a16="http://schemas.microsoft.com/office/drawing/2014/main" id="{D947DED5-149A-4DC8-9BED-F358044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3276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10b67c16e4682"/>
          <a:stretch xmlns:a="http://schemas.openxmlformats.org/drawingml/2006/main"/>
        </p:blipFill>
        <p:spPr>
          <a:xfrm xmlns:a="http://schemas.openxmlformats.org/drawingml/2006/main">
            <a:off x="4591565" y="3733800"/>
            <a:ext cx="1751570" cy="4000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25D46-F67D-4866-8756-60A34C0C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Full name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425f98677437e"/>
          <a:stretch xmlns:a="http://schemas.openxmlformats.org/drawingml/2006/main"/>
        </p:blipFill>
        <p:spPr>
          <a:xfrm xmlns:a="http://schemas.openxmlformats.org/drawingml/2006/main">
            <a:off x="4743450" y="4648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8aed460c84c99"/>
          <a:stretch xmlns:a="http://schemas.openxmlformats.org/drawingml/2006/main"/>
        </p:blipFill>
        <p:spPr>
          <a:xfrm xmlns:a="http://schemas.openxmlformats.org/drawingml/2006/main">
            <a:off x="6362700" y="47244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4C32F-4A32-47FB-9BA1-9AE32BB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00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Small icon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BCA8C-ECED-4DE8-B491-CBE639F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00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Browser icon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F20F4-D5E5-49F6-9396-C5A43C83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4355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Both stay clear and familiar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53401-D6A6-4DD5-B342-2E434859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APP + BROWSER</a:t>
            </a:r>
          </a:p>
        </p:txBody>
      </p:sp>
      <p:sp>
        <p:nvSpPr>
          <p:cNvPr id="28" name="s2-platform">
            <a:extLst xmlns:a="http://schemas.openxmlformats.org/drawingml/2006/main">
              <a:ext uri="{FF2B5EF4-FFF2-40B4-BE49-F238E27FC236}">
                <a16:creationId xmlns:a16="http://schemas.microsoft.com/office/drawing/2014/main" id="{7B5C102A-876A-4AFB-A04B-1B2017E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3581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BBD75-2571-457D-8B07-1B83E87A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CORAL ON WHITE</a:t>
            </a:r>
          </a:p>
        </p:txBody>
      </p:sp>
      <p:sp>
        <p:nvSpPr>
          <p:cNvPr id="30" name="s2-avatar-field">
            <a:extLst xmlns:a="http://schemas.openxmlformats.org/drawingml/2006/main">
              <a:ext uri="{FF2B5EF4-FFF2-40B4-BE49-F238E27FC236}">
                <a16:creationId xmlns:a16="http://schemas.microsoft.com/office/drawing/2014/main" id="{7182BA41-A023-4624-A416-34E1F7D9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10668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cf4b8e08f4e8c">
            <a:extLst>
              <a:ext uri="{96DAC541-7B7A-43D3-8B79-37D633B846F1}">
                <asvg:svgBlip xmlns:asvg="http://schemas.microsoft.com/office/drawing/2016/SVG/main" r:embed="R9c4a9183a57049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29650" y="407670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677bb34634b6d"/>
          <a:stretch xmlns:a="http://schemas.openxmlformats.org/drawingml/2006/main"/>
        </p:blipFill>
        <p:spPr>
          <a:xfrm xmlns:a="http://schemas.openxmlformats.org/drawingml/2006/main">
            <a:off x="9963150" y="39814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EAE80-A727-4C91-A270-CD573D4E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App icon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A4FCCE-7181-4F23-9D7F-5E8AA38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05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Browser icon</a:t>
            </a:r>
          </a:p>
        </p:txBody>
      </p:sp>
      <p:sp>
        <p:nvSpPr>
          <p:cNvPr id="35" name="s2-cocoa">
            <a:extLst xmlns:a="http://schemas.openxmlformats.org/drawingml/2006/main">
              <a:ext uri="{FF2B5EF4-FFF2-40B4-BE49-F238E27FC236}">
                <a16:creationId xmlns:a16="http://schemas.microsoft.com/office/drawing/2014/main" id="{67C1DA43-134D-4540-AA2C-50974C60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E0FEB-8998-438E-8369-2FC437BB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Cocoa</a:t>
            </a:r>
          </a:p>
        </p:txBody>
      </p:sp>
      <p:sp>
        <p:nvSpPr>
          <p:cNvPr id="37" name="s2-coral">
            <a:extLst xmlns:a="http://schemas.openxmlformats.org/drawingml/2006/main">
              <a:ext uri="{FF2B5EF4-FFF2-40B4-BE49-F238E27FC236}">
                <a16:creationId xmlns:a16="http://schemas.microsoft.com/office/drawing/2014/main" id="{CBC19465-06C7-402C-A0FF-F4B97D7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834B7-CAC6-4053-993B-B72D2FC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34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Coral</a:t>
            </a:r>
          </a:p>
        </p:txBody>
      </p:sp>
      <p:sp>
        <p:nvSpPr>
          <p:cNvPr id="39" name="s2-paper">
            <a:extLst xmlns:a="http://schemas.openxmlformats.org/drawingml/2006/main">
              <a:ext uri="{FF2B5EF4-FFF2-40B4-BE49-F238E27FC236}">
                <a16:creationId xmlns:a16="http://schemas.microsoft.com/office/drawing/2014/main" id="{BD8BA117-BA8C-4AD7-9332-55A7579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16A218-6455-45F7-AE0F-3A0DF83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334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Warm paper</a:t>
            </a:r>
          </a:p>
        </p:txBody>
      </p:sp>
      <p:sp>
        <p:nvSpPr>
          <p:cNvPr id="41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678D67FF-8504-4E78-B0AF-2581B9D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18CF80-F9AE-48ED-A9B6-FDA36C6F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1B73D1-EE18-4F3A-AB97-A068A1A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7439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3-v3-field">
            <a:extLst xmlns:a="http://schemas.openxmlformats.org/drawingml/2006/main">
              <a:ext uri="{FF2B5EF4-FFF2-40B4-BE49-F238E27FC236}">
                <a16:creationId xmlns:a16="http://schemas.microsoft.com/office/drawing/2014/main" id="{5D849146-77BD-489E-864B-06ECC0E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0"/>
            <a:ext cx="765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72ca916e74eb5"/>
          <a:srcRect xmlns:a="http://schemas.openxmlformats.org/drawingml/2006/main" l="31" t="0" r="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0"/>
            <a:ext cx="41148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704CF-F1C5-4683-A574-153F2D3C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DROP 01 · LAGOS</a:t>
            </a:r>
          </a:p>
        </p:txBody>
      </p:sp>
      <p:sp>
        <p:nvSpPr>
          <p:cNvPr id="4" name="coral-tick-64-108">
            <a:extLst xmlns:a="http://schemas.openxmlformats.org/drawingml/2006/main">
              <a:ext uri="{FF2B5EF4-FFF2-40B4-BE49-F238E27FC236}">
                <a16:creationId xmlns:a16="http://schemas.microsoft.com/office/drawing/2014/main" id="{B432AEE5-3314-4094-8AB7-F0E3A92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title">
            <a:extLst xmlns:a="http://schemas.openxmlformats.org/drawingml/2006/main">
              <a:ext uri="{FF2B5EF4-FFF2-40B4-BE49-F238E27FC236}">
                <a16:creationId xmlns:a16="http://schemas.microsoft.com/office/drawing/2014/main" id="{03465518-63B9-466F-8D92-CAF39B81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3314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975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One approved</a:t>
            </a:r>
          </a:p>
          <a:p xmlns:a="http://schemas.openxmlformats.org/drawingml/2006/main">
            <a:pPr algn="l">
              <a:defRPr sz="3975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975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piece carries</a:t>
            </a:r>
          </a:p>
          <a:p xmlns:a="http://schemas.openxmlformats.org/drawingml/2006/main">
            <a:pPr algn="l">
              <a:defRPr sz="3975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975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the whole identity.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5A2E5-3BAC-43F1-B846-936642C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CORAL DRIFT 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79676-9FA7-4F02-AB9D-D168A41F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JUW-001 · AVAILABLE · ₦24,500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a1618cb594b9a"/>
          <a:stretch xmlns:a="http://schemas.openxmlformats.org/drawingml/2006/main"/>
        </p:blipFill>
        <p:spPr>
          <a:xfrm xmlns:a="http://schemas.openxmlformats.org/drawingml/2006/main">
            <a:off x="628650" y="5240338"/>
            <a:ext cx="2571750" cy="587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DA169-F494-426C-829A-FFE6ADCF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Drop 01 brand concept</a:t>
            </a:r>
          </a:p>
        </p:txBody>
      </p:sp>
      <p:sp>
        <p:nvSpPr>
          <p:cNvPr id="10" name="s3-model-proof-label">
            <a:extLst xmlns:a="http://schemas.openxmlformats.org/drawingml/2006/main">
              <a:ext uri="{FF2B5EF4-FFF2-40B4-BE49-F238E27FC236}">
                <a16:creationId xmlns:a16="http://schemas.microsoft.com/office/drawing/2014/main" id="{899FB90C-7CDD-4D9C-BACC-601CFBCF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000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38C3E-6BDA-4484-86FF-C647840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388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LULU · JUW-001</a:t>
            </a:r>
          </a:p>
        </p:txBody>
      </p:sp>
      <p:sp>
        <p:nvSpPr>
          <p:cNvPr id="12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BA5EF729-81BA-4A3F-83E8-3DFB2A1A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82F00-2D6E-4B0F-8491-E7FD96A2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BE533-547A-4B01-9C89-F0591C4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9136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E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A9E8F-B17F-4C9F-8D1B-AD9346AD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ONE PIECE, ONE RECORD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3ADEBA1B-249A-42D2-8749-57BFA06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4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Every detail earns trust.</a:t>
            </a:r>
          </a:p>
        </p:txBody>
      </p:sp>
      <p:sp>
        <p:nvSpPr>
          <p:cNvPr id="3" name="coral-tick-64-144">
            <a:extLst xmlns:a="http://schemas.openxmlformats.org/drawingml/2006/main">
              <a:ext uri="{FF2B5EF4-FFF2-40B4-BE49-F238E27FC236}">
                <a16:creationId xmlns:a16="http://schemas.microsoft.com/office/drawing/2014/main" id="{FABD9A93-1CB0-476F-AA39-0298FB0A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b4f55b6054364"/>
          <a:srcRect xmlns:a="http://schemas.openxmlformats.org/drawingml/2006/main" l="0" t="9986" r="0" b="9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4610100" cy="46101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04236dc0146ed"/>
          <a:srcRect xmlns:a="http://schemas.openxmlformats.org/drawingml/2006/main" l="0" t="3317" r="0" b="3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4476750"/>
            <a:ext cx="1485900" cy="1733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FA6E2-D0EA-4975-9EF7-4DD13E5A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CORAL DRIFT 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68FB2-E971-48A3-93F7-35A00BE0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00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JUW-001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82FED-7048-49A1-8066-0A87D94B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ORIGINAL BRAND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2C3FA-3C85-448E-B3CA-94B783A0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Not recorded in current catalogue</a:t>
            </a:r>
          </a:p>
        </p:txBody>
      </p:sp>
      <p:sp>
        <p:nvSpPr>
          <p:cNvPr id="10" name="s4-line-286">
            <a:extLst xmlns:a="http://schemas.openxmlformats.org/drawingml/2006/main">
              <a:ext uri="{FF2B5EF4-FFF2-40B4-BE49-F238E27FC236}">
                <a16:creationId xmlns:a16="http://schemas.microsoft.com/office/drawing/2014/main" id="{EB0ED7BF-1357-4843-AD50-5A5CD8AE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F5640-546C-427D-909D-9320A674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1FC00-2C5D-44E1-A714-AFAEFE0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Excellent pre-loved</a:t>
            </a:r>
          </a:p>
        </p:txBody>
      </p:sp>
      <p:sp>
        <p:nvSpPr>
          <p:cNvPr id="13" name="s4-line-338">
            <a:extLst xmlns:a="http://schemas.openxmlformats.org/drawingml/2006/main">
              <a:ext uri="{FF2B5EF4-FFF2-40B4-BE49-F238E27FC236}">
                <a16:creationId xmlns:a16="http://schemas.microsoft.com/office/drawing/2014/main" id="{92140440-AA6A-4F47-8622-7EEF211F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052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C4814-7020-43C1-A934-EEED88F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TAGGED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B728C-325C-4349-9A4C-6DACB24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UK 10</a:t>
            </a:r>
          </a:p>
        </p:txBody>
      </p:sp>
      <p:sp>
        <p:nvSpPr>
          <p:cNvPr id="16" name="s4-line-390">
            <a:extLst xmlns:a="http://schemas.openxmlformats.org/drawingml/2006/main">
              <a:ext uri="{FF2B5EF4-FFF2-40B4-BE49-F238E27FC236}">
                <a16:creationId xmlns:a16="http://schemas.microsoft.com/office/drawing/2014/main" id="{A767C7E5-70BD-49E8-8359-C705942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0D0D9-92AE-4726-8AD9-9775E81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00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MEASUREMENTS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CA4A8-91E9-4C03-B5D9-82DAB28B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Bust 88 cm · Waist 74 cm · Length 121 cm</a:t>
            </a:r>
          </a:p>
        </p:txBody>
      </p:sp>
      <p:sp>
        <p:nvSpPr>
          <p:cNvPr id="19" name="s4-line-442">
            <a:extLst xmlns:a="http://schemas.openxmlformats.org/drawingml/2006/main">
              <a:ext uri="{FF2B5EF4-FFF2-40B4-BE49-F238E27FC236}">
                <a16:creationId xmlns:a16="http://schemas.microsoft.com/office/drawing/2014/main" id="{0B25C2AA-8A2F-48F7-8450-0A8ED11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958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CA550-E367-4222-A9AB-BFFDD4E8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053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PRICE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0D23C-3352-4295-950F-7CD7A18D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863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₦24,500</a:t>
            </a:r>
          </a:p>
        </p:txBody>
      </p:sp>
      <p:sp>
        <p:nvSpPr>
          <p:cNvPr id="22" name="s4-line-494">
            <a:extLst xmlns:a="http://schemas.openxmlformats.org/drawingml/2006/main">
              <a:ext uri="{FF2B5EF4-FFF2-40B4-BE49-F238E27FC236}">
                <a16:creationId xmlns:a16="http://schemas.microsoft.com/office/drawing/2014/main" id="{01A2114F-74C0-41B3-BC24-5DE4EC3C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911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A62AD-2B9E-4AFA-9094-6DBA36D2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006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70AF7-B3FF-42D4-A3BF-7A7F8EE2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AVAILABLE · one piece</a:t>
            </a:r>
          </a:p>
        </p:txBody>
      </p:sp>
      <p:sp>
        <p:nvSpPr>
          <p:cNvPr id="25" name="s4-line-546">
            <a:extLst xmlns:a="http://schemas.openxmlformats.org/drawingml/2006/main">
              <a:ext uri="{FF2B5EF4-FFF2-40B4-BE49-F238E27FC236}">
                <a16:creationId xmlns:a16="http://schemas.microsoft.com/office/drawing/2014/main" id="{8AD0E37E-C0B5-44A8-B139-BF22F81A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864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ral-tick-692-616">
            <a:extLst xmlns:a="http://schemas.openxmlformats.org/drawingml/2006/main">
              <a:ext uri="{FF2B5EF4-FFF2-40B4-BE49-F238E27FC236}">
                <a16:creationId xmlns:a16="http://schemas.microsoft.com/office/drawing/2014/main" id="{4DEFDDFF-9CCE-48C6-B52C-3247C97B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67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30AAA-3696-4804-82BC-E5226D7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7531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The missing original-brand value is shown honestly, never guessed.</a:t>
            </a:r>
          </a:p>
        </p:txBody>
      </p:sp>
      <p:sp>
        <p:nvSpPr>
          <p:cNvPr id="28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C96C501C-4A31-47C8-B7D0-4A47D93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25A4D3-CC5A-4503-8B09-D6D8A3C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5C18BB-8A97-4625-B11A-071BBE64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7776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ee092bd0543d5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5-editorial-column">
            <a:extLst xmlns:a="http://schemas.openxmlformats.org/drawingml/2006/main">
              <a:ext uri="{FF2B5EF4-FFF2-40B4-BE49-F238E27FC236}">
                <a16:creationId xmlns:a16="http://schemas.microsoft.com/office/drawing/2014/main" id="{3806C019-950B-427A-A63D-0ABE26A0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33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05aae751144c2">
            <a:extLst>
              <a:ext uri="{96DAC541-7B7A-43D3-8B79-37D633B846F1}">
                <asvg:svgBlip xmlns:asvg="http://schemas.microsoft.com/office/drawing/2016/SVG/main" r:embed="R37c5b484021b4b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20000">
            <a:off x="5638800" y="34861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9EE4D-F813-44BD-BFA3-B22E5E59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DED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7DED4"/>
                </a:solidFill>
                <a:latin typeface="Avenir Next"/>
                <a:ea typeface="Avenir Next"/>
                <a:cs typeface="Avenir Next"/>
              </a:rPr>
              <a:t>JU/W HANG TAG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BB447-64E6-48CE-8E54-984025E5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CURATED, NOT MANUFACTURED</a:t>
            </a:r>
          </a:p>
        </p:txBody>
      </p:sp>
      <p:sp>
        <p:nvSpPr>
          <p:cNvPr id="6" name="coral-tick-64-98">
            <a:extLst xmlns:a="http://schemas.openxmlformats.org/drawingml/2006/main">
              <a:ext uri="{FF2B5EF4-FFF2-40B4-BE49-F238E27FC236}">
                <a16:creationId xmlns:a16="http://schemas.microsoft.com/office/drawing/2014/main" id="{179488A0-BDD5-4578-A5CC-823C568D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title">
            <a:extLst xmlns:a="http://schemas.openxmlformats.org/drawingml/2006/main">
              <a:ext uri="{FF2B5EF4-FFF2-40B4-BE49-F238E27FC236}">
                <a16:creationId xmlns:a16="http://schemas.microsoft.com/office/drawing/2014/main" id="{CCBD67F4-4222-48CA-AB82-E65E5E70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5623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4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Removable</a:t>
            </a:r>
          </a:p>
          <a:p xmlns:a="http://schemas.openxmlformats.org/drawingml/2006/main">
            <a:pPr algn="l">
              <a:defRPr sz="34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4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provenance.</a:t>
            </a:r>
          </a:p>
          <a:p xmlns:a="http://schemas.openxmlformats.org/drawingml/2006/main">
            <a:pPr algn="l">
              <a:defRPr sz="34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4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Original label:</a:t>
            </a:r>
          </a:p>
          <a:p xmlns:a="http://schemas.openxmlformats.org/drawingml/2006/main">
            <a:pPr algn="l">
              <a:defRPr sz="34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4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untouched.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D9F7-F9F2-480C-AC86-51E50EB4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JU/W identifies the edit—</a:t>
            </a:r>
          </a:p>
          <a:p xmlns:a="http://schemas.openxmlformats.org/drawingml/2006/main">
            <a:pPr>
              <a:defRPr sz="1575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not the garment’s maker.</a:t>
            </a:r>
          </a:p>
        </p:txBody>
      </p:sp>
      <p:sp>
        <p:nvSpPr>
          <p:cNvPr id="9" name="s5-disclosure-back">
            <a:extLst xmlns:a="http://schemas.openxmlformats.org/drawingml/2006/main">
              <a:ext uri="{FF2B5EF4-FFF2-40B4-BE49-F238E27FC236}">
                <a16:creationId xmlns:a16="http://schemas.microsoft.com/office/drawing/2014/main" id="{5778BFE0-9885-4F3D-9A23-96697CAE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384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09B65-C1C6-4E49-A026-357FEA48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HANG TAG CONCEPT</a:t>
            </a:r>
          </a:p>
        </p:txBody>
      </p:sp>
      <p:sp>
        <p:nvSpPr>
          <p:cNvPr id="11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853A0FF3-9827-4E4F-A57F-D36B926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7448E-78A9-464B-A4B1-15925544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3935F-DBE5-4147-861C-AD4485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0503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54237948b435e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6-copy-back">
            <a:extLst xmlns:a="http://schemas.openxmlformats.org/drawingml/2006/main">
              <a:ext uri="{FF2B5EF4-FFF2-40B4-BE49-F238E27FC236}">
                <a16:creationId xmlns:a16="http://schemas.microsoft.com/office/drawing/2014/main" id="{5C04607F-3862-4086-A2DE-799DA17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4350"/>
            <a:ext cx="35623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2A9B3-61D7-4196-9093-C8367DB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BEHIND THE EDIT</a:t>
            </a:r>
          </a:p>
        </p:txBody>
      </p:sp>
      <p:sp>
        <p:nvSpPr>
          <p:cNvPr id="4" name="coral-tick-870-116">
            <a:extLst xmlns:a="http://schemas.openxmlformats.org/drawingml/2006/main">
              <a:ext uri="{FF2B5EF4-FFF2-40B4-BE49-F238E27FC236}">
                <a16:creationId xmlns:a16="http://schemas.microsoft.com/office/drawing/2014/main" id="{8E411E6C-13B6-4C6C-BB24-6F65953B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title">
            <a:extLst xmlns:a="http://schemas.openxmlformats.org/drawingml/2006/main">
              <a:ext uri="{FF2B5EF4-FFF2-40B4-BE49-F238E27FC236}">
                <a16:creationId xmlns:a16="http://schemas.microsoft.com/office/drawing/2014/main" id="{80B8521C-F3E5-4CD6-ACE6-513AC68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7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Evidence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E2793-B84D-4D2D-8CC6-77C7764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Inspect. Measure.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521D7-5DB7-4CF5-93E1-FC91510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Condition, fit and measurements make a one-off piece safer to choose at a distance.</a:t>
            </a:r>
          </a:p>
        </p:txBody>
      </p:sp>
      <p:sp>
        <p:nvSpPr>
          <p:cNvPr id="8" name="s6-disclosure-back">
            <a:extLst xmlns:a="http://schemas.openxmlformats.org/drawingml/2006/main">
              <a:ext uri="{FF2B5EF4-FFF2-40B4-BE49-F238E27FC236}">
                <a16:creationId xmlns:a16="http://schemas.microsoft.com/office/drawing/2014/main" id="{12D3D271-00DA-4B2D-94AF-CAFB222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91150"/>
            <a:ext cx="3562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DFF0A-2C14-450F-A8F8-E69477A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578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BEHIND THE EDIT · CONCEPT</a:t>
            </a:r>
          </a:p>
        </p:txBody>
      </p:sp>
      <p:sp>
        <p:nvSpPr>
          <p:cNvPr id="10" name="s6-folio-back">
            <a:extLst xmlns:a="http://schemas.openxmlformats.org/drawingml/2006/main">
              <a:ext uri="{FF2B5EF4-FFF2-40B4-BE49-F238E27FC236}">
                <a16:creationId xmlns:a16="http://schemas.microsoft.com/office/drawing/2014/main" id="{7EE869F8-7146-425F-BA74-1C8E60D0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73CA2AFF-290D-467C-B411-8069B67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399A3-7237-4976-9C8D-BB28D125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5A9C3-F7CA-461D-A580-F5F3DE79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149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99fd696024a5f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6b8da0e024310">
            <a:extLst>
              <a:ext uri="{96DAC541-7B7A-43D3-8B79-37D633B846F1}">
                <asvg:svgBlip xmlns:asvg="http://schemas.microsoft.com/office/drawing/2016/SVG/main" r:embed="Rbcb8bfd5047c4c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-780000">
            <a:off x="2209800" y="2381250"/>
            <a:ext cx="2381250" cy="54292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7969da1634920"/>
          <a:stretch xmlns:a="http://schemas.openxmlformats.org/drawingml/2006/main"/>
        </p:blipFill>
        <p:spPr>
          <a:xfrm xmlns:a="http://schemas.openxmlformats.org/drawingml/2006/main" rot="-780000">
            <a:off x="3105150" y="11811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f25375fe4f03"/>
          <a:stretch xmlns:a="http://schemas.openxmlformats.org/drawingml/2006/main"/>
        </p:blipFill>
        <p:spPr>
          <a:xfrm xmlns:a="http://schemas.openxmlformats.org/drawingml/2006/main" rot="120000">
            <a:off x="4800600" y="527685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4e2623a4c4b88"/>
          <a:stretch xmlns:a="http://schemas.openxmlformats.org/drawingml/2006/main"/>
        </p:blipFill>
        <p:spPr>
          <a:xfrm xmlns:a="http://schemas.openxmlformats.org/drawingml/2006/main" rot="-120000">
            <a:off x="5905500" y="5105812"/>
            <a:ext cx="1581150" cy="36112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B6D9C-1A9F-41BF-AB01-871866DE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7DED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7DED4"/>
                </a:solidFill>
                <a:latin typeface="Avenir Next"/>
                <a:ea typeface="Avenir Next"/>
                <a:cs typeface="Avenir Next"/>
              </a:rPr>
              <a:t>FULL NAME ON THE MAILER · JU/W ON THE SEAL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7104B-8DAA-42F4-8CBC-B6EFC881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8293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JU/W SEAL · FULL NAME ON THE CARD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656abe2ca4bf9"/>
          <a:stretch xmlns:a="http://schemas.openxmlformats.org/drawingml/2006/main"/>
        </p:blipFill>
        <p:spPr>
          <a:xfrm xmlns:a="http://schemas.openxmlformats.org/drawingml/2006/main">
            <a:off x="8172450" y="593784"/>
            <a:ext cx="2724150" cy="62218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2C1B0-26F2-484D-9A5E-1837908D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PACKED BY LULU</a:t>
            </a:r>
          </a:p>
        </p:txBody>
      </p:sp>
      <p:sp>
        <p:nvSpPr>
          <p:cNvPr id="10" name="coral-tick-858-204">
            <a:extLst xmlns:a="http://schemas.openxmlformats.org/drawingml/2006/main">
              <a:ext uri="{FF2B5EF4-FFF2-40B4-BE49-F238E27FC236}">
                <a16:creationId xmlns:a16="http://schemas.microsoft.com/office/drawing/2014/main" id="{5BA390D4-17F9-4548-B06F-B4DD67D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title">
            <a:extLst xmlns:a="http://schemas.openxmlformats.org/drawingml/2006/main">
              <a:ext uri="{FF2B5EF4-FFF2-40B4-BE49-F238E27FC236}">
                <a16:creationId xmlns:a16="http://schemas.microsoft.com/office/drawing/2014/main" id="{84936CD2-E2CD-494F-92A2-F135CE5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314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7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One piece.</a:t>
            </a:r>
          </a:p>
          <a:p xmlns:a="http://schemas.openxmlformats.org/drawingml/2006/main">
            <a:pPr algn="l">
              <a:defRPr sz="37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7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Packed with care.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41CA6-4C4D-49E9-848E-D2FB8072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Mailer · warm-paper tissue · JU/W seal</a:t>
            </a:r>
          </a:p>
          <a:p xmlns:a="http://schemas.openxmlformats.org/drawingml/2006/main">
            <a:pPr>
              <a:defRPr sz="1425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Wordmark thank-you · order + condition card</a:t>
            </a:r>
          </a:p>
        </p:txBody>
      </p:sp>
      <p:sp>
        <p:nvSpPr>
          <p:cNvPr id="13" name="s7-disclosure-back">
            <a:extLst xmlns:a="http://schemas.openxmlformats.org/drawingml/2006/main">
              <a:ext uri="{FF2B5EF4-FFF2-40B4-BE49-F238E27FC236}">
                <a16:creationId xmlns:a16="http://schemas.microsoft.com/office/drawing/2014/main" id="{1752859D-BD25-4EC8-BC2A-6238505C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842DF-242C-43D2-BC4F-5D19B6C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864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PACKAGING CONCEPT</a:t>
            </a:r>
          </a:p>
        </p:txBody>
      </p:sp>
      <p:sp>
        <p:nvSpPr>
          <p:cNvPr id="15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86E08679-1D0F-4297-BEAB-7CFEA38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43558-E0D1-454E-88DD-44B13DA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37C11-D041-4BA2-990C-38B712F2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3462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A7384-D543-4298-A489-B32494D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DIGITAL DISCOVERY</a:t>
            </a:r>
          </a:p>
        </p:txBody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F24906C4-F5BC-4A8D-B841-C8C0F9A0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1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The identity holds at every screen size.</a:t>
            </a:r>
          </a:p>
        </p:txBody>
      </p:sp>
      <p:sp>
        <p:nvSpPr>
          <p:cNvPr id="3" name="coral-tick-64-136">
            <a:extLst xmlns:a="http://schemas.openxmlformats.org/drawingml/2006/main">
              <a:ext uri="{FF2B5EF4-FFF2-40B4-BE49-F238E27FC236}">
                <a16:creationId xmlns:a16="http://schemas.microsoft.com/office/drawing/2014/main" id="{D0F88918-9CC9-4C21-934C-644EAAF9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8-desktop-bezel">
            <a:extLst xmlns:a="http://schemas.openxmlformats.org/drawingml/2006/main">
              <a:ext uri="{FF2B5EF4-FFF2-40B4-BE49-F238E27FC236}">
                <a16:creationId xmlns:a16="http://schemas.microsoft.com/office/drawing/2014/main" id="{94E77C89-6EFE-48DD-A5A7-6A2D2E1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496300" cy="41719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77fe02bef4419"/>
          <a:srcRect xmlns:a="http://schemas.openxmlformats.org/drawingml/2006/main" l="0" t="9119" r="0" b="9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847850"/>
            <a:ext cx="80772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92769db8c4c9e"/>
          <a:srcRect xmlns:a="http://schemas.openxmlformats.org/drawingml/2006/main" l="0" t="8935" r="0" b="8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2305050"/>
            <a:ext cx="2381250" cy="32575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7" name="s8-v3-proof-label">
            <a:extLst xmlns:a="http://schemas.openxmlformats.org/drawingml/2006/main">
              <a:ext uri="{FF2B5EF4-FFF2-40B4-BE49-F238E27FC236}">
                <a16:creationId xmlns:a16="http://schemas.microsoft.com/office/drawing/2014/main" id="{70FDCEF9-4B11-4F87-A9F8-C9A3532C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19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C54DD-6DD1-493D-B05A-960C09D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57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LULU · JUW-001</a:t>
            </a:r>
          </a:p>
        </p:txBody>
      </p:sp>
      <p:sp>
        <p:nvSpPr>
          <p:cNvPr id="9" name="s8-desktop-foot">
            <a:extLst xmlns:a="http://schemas.openxmlformats.org/drawingml/2006/main">
              <a:ext uri="{FF2B5EF4-FFF2-40B4-BE49-F238E27FC236}">
                <a16:creationId xmlns:a16="http://schemas.microsoft.com/office/drawing/2014/main" id="{EC389887-31CF-4E89-9703-B43F5027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mobile-bezel">
            <a:extLst xmlns:a="http://schemas.openxmlformats.org/drawingml/2006/main">
              <a:ext uri="{FF2B5EF4-FFF2-40B4-BE49-F238E27FC236}">
                <a16:creationId xmlns:a16="http://schemas.microsoft.com/office/drawing/2014/main" id="{C811DA1D-9EEA-4FEC-B949-5B2EE4E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114550" cy="41719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3fe3eb30f448b"/>
          <a:srcRect xmlns:a="http://schemas.openxmlformats.org/drawingml/2006/main" l="0" t="2128" r="0" b="2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9300" y="1638300"/>
            <a:ext cx="1809750" cy="37528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sp>
        <p:nvSpPr>
          <p:cNvPr id="12" name="s8-pwa-field">
            <a:extLst xmlns:a="http://schemas.openxmlformats.org/drawingml/2006/main">
              <a:ext uri="{FF2B5EF4-FFF2-40B4-BE49-F238E27FC236}">
                <a16:creationId xmlns:a16="http://schemas.microsoft.com/office/drawing/2014/main" id="{584FEA9F-1473-4553-96DD-0CB75DB3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340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1cc884f20442c">
            <a:extLst>
              <a:ext uri="{96DAC541-7B7A-43D3-8B79-37D633B846F1}">
                <asvg:svgBlip xmlns:asvg="http://schemas.microsoft.com/office/drawing/2016/SVG/main" r:embed="R212e7d2543a241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91700" y="5829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F9FD3-F4C2-4549-A67D-AA43504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531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APP ICON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fd5b034bd4236"/>
          <a:stretch xmlns:a="http://schemas.openxmlformats.org/drawingml/2006/main"/>
        </p:blipFill>
        <p:spPr>
          <a:xfrm xmlns:a="http://schemas.openxmlformats.org/drawingml/2006/main">
            <a:off x="10744200" y="5772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376BE-79D6-4B00-91A3-3AC7FD0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531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BROWSER ICON</a:t>
            </a:r>
          </a:p>
        </p:txBody>
      </p:sp>
      <p:sp>
        <p:nvSpPr>
          <p:cNvPr id="17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563844C9-284A-4624-9581-F137D944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D4135-0C34-40E2-951B-76CEE899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3644B-DE3D-4318-ACA6-5634B279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3916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E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67CC6-041D-4DDD-A766-5090B51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SOCIAL AND WHATSAPP COMMERCE</a:t>
            </a:r>
          </a:p>
        </p:txBody>
      </p:sp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CD5114D5-B099-44D7-AB5C-A27AC28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181412"/>
                </a:solidFill>
                <a:latin typeface="Bodoni 72"/>
                <a:ea typeface="Bodoni 72"/>
                <a:cs typeface="Bodoni 72"/>
              </a:defRPr>
            </a:pPr>
            <a:r>
              <a:rPr sz="3150">
                <a:solidFill>
                  <a:srgbClr val="181412"/>
                </a:solidFill>
                <a:latin typeface="Bodoni 72"/>
                <a:ea typeface="Bodoni 72"/>
                <a:cs typeface="Bodoni 72"/>
              </a:rPr>
              <a:t>Discovery stays human through the handoff.</a:t>
            </a:r>
          </a:p>
        </p:txBody>
      </p:sp>
      <p:sp>
        <p:nvSpPr>
          <p:cNvPr id="3" name="coral-tick-64-136">
            <a:extLst xmlns:a="http://schemas.openxmlformats.org/drawingml/2006/main">
              <a:ext uri="{FF2B5EF4-FFF2-40B4-BE49-F238E27FC236}">
                <a16:creationId xmlns:a16="http://schemas.microsoft.com/office/drawing/2014/main" id="{6038D30C-8B09-495E-9758-00FC7787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9-story-a">
            <a:extLst xmlns:a="http://schemas.openxmlformats.org/drawingml/2006/main">
              <a:ext uri="{FF2B5EF4-FFF2-40B4-BE49-F238E27FC236}">
                <a16:creationId xmlns:a16="http://schemas.microsoft.com/office/drawing/2014/main" id="{326355C3-B652-4D81-B509-FD1343C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809750" cy="39052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859a411c94777"/>
          <a:srcRect xmlns:a="http://schemas.openxmlformats.org/drawingml/2006/main" l="7611" t="0" r="76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771650"/>
            <a:ext cx="1619250" cy="31813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6" name="s9-v3-proof-label">
            <a:extLst xmlns:a="http://schemas.openxmlformats.org/drawingml/2006/main">
              <a:ext uri="{FF2B5EF4-FFF2-40B4-BE49-F238E27FC236}">
                <a16:creationId xmlns:a16="http://schemas.microsoft.com/office/drawing/2014/main" id="{B61B62E0-674D-4BC1-B8E0-98D2783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E41E9-FE22-45B5-BFDE-D2363F78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LULU · JUW-001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56ef9fd2c4f64"/>
          <a:stretch xmlns:a="http://schemas.openxmlformats.org/drawingml/2006/main"/>
        </p:blipFill>
        <p:spPr>
          <a:xfrm xmlns:a="http://schemas.openxmlformats.org/drawingml/2006/main">
            <a:off x="847210" y="5105400"/>
            <a:ext cx="1334530" cy="304800"/>
          </a:xfrm>
          <a:prstGeom xmlns:a="http://schemas.openxmlformats.org/drawingml/2006/main" prst="rect">
            <a:avLst/>
          </a:prstGeom>
        </p:spPr>
      </p:pic>
      <p:sp>
        <p:nvSpPr>
          <p:cNvPr id="9" name="s9-story-b">
            <a:extLst xmlns:a="http://schemas.openxmlformats.org/drawingml/2006/main">
              <a:ext uri="{FF2B5EF4-FFF2-40B4-BE49-F238E27FC236}">
                <a16:creationId xmlns:a16="http://schemas.microsoft.com/office/drawing/2014/main" id="{4D9E791B-A614-4D62-A0C2-DC40A40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76400"/>
            <a:ext cx="1809750" cy="39052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92779ac5c42d5"/>
          <a:srcRect xmlns:a="http://schemas.openxmlformats.org/drawingml/2006/main" l="18200" t="0" r="182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86050" y="1771650"/>
            <a:ext cx="1619250" cy="31813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8B640-7382-4D92-9A37-7F27D6B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JUW-001 · ONE PIECE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95494-7A86-414B-8A82-12FDA69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SOCIAL CONCEPT · LULU + JUW-001</a:t>
            </a:r>
          </a:p>
        </p:txBody>
      </p:sp>
      <p:sp>
        <p:nvSpPr>
          <p:cNvPr id="13" name="s9-checkout-bezel">
            <a:extLst xmlns:a="http://schemas.openxmlformats.org/drawingml/2006/main">
              <a:ext uri="{FF2B5EF4-FFF2-40B4-BE49-F238E27FC236}">
                <a16:creationId xmlns:a16="http://schemas.microsoft.com/office/drawing/2014/main" id="{FCE89C2E-0A1F-458D-9EB0-2F867FCF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76400"/>
            <a:ext cx="668655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9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53bab27b44637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828800"/>
            <a:ext cx="6381750" cy="3590925"/>
          </a:xfrm>
          <a:prstGeom xmlns:a="http://schemas.openxmlformats.org/drawingml/2006/main" prst="roundRect">
            <a:avLst>
              <a:gd name="adj" fmla="val 424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20ED7-DBFC-496A-A40C-D5DB0B58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753100"/>
            <a:ext cx="668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SHOPPER REVIEWS THE ORDER, THEN SENDS IT ON WHATSAPP</a:t>
            </a:r>
          </a:p>
        </p:txBody>
      </p:sp>
      <p:sp>
        <p:nvSpPr>
          <p:cNvPr id="16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83C49594-8BE9-4637-9A39-3E2B8F2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71E3E-FB06-4290-9E5F-EC3A5D8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61B81-254E-473D-87EF-84E81B2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8B817A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6517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A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076e63924368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4071-6B53-4ED0-AE70-BAB875BB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D0C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8D0CA"/>
                </a:solidFill>
                <a:latin typeface="Avenir Next"/>
                <a:ea typeface="Avenir Next"/>
                <a:cs typeface="Avenir Next"/>
              </a:rPr>
              <a:t>LAGOS HANDOFF</a:t>
            </a:r>
          </a:p>
        </p:txBody>
      </p:sp>
      <p:sp>
        <p:nvSpPr>
          <p:cNvPr id="3" name="coral-tick-64-110">
            <a:extLst xmlns:a="http://schemas.openxmlformats.org/drawingml/2006/main">
              <a:ext uri="{FF2B5EF4-FFF2-40B4-BE49-F238E27FC236}">
                <a16:creationId xmlns:a16="http://schemas.microsoft.com/office/drawing/2014/main" id="{FF3AAAF8-33CE-4AD1-99F3-62FDAC46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0-title">
            <a:extLst xmlns:a="http://schemas.openxmlformats.org/drawingml/2006/main">
              <a:ext uri="{FF2B5EF4-FFF2-40B4-BE49-F238E27FC236}">
                <a16:creationId xmlns:a16="http://schemas.microsoft.com/office/drawing/2014/main" id="{A6AC9563-1DAC-492C-90A6-46C7930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FFFFFF"/>
                </a:solidFill>
                <a:latin typeface="Bodoni 72"/>
                <a:ea typeface="Bodoni 72"/>
                <a:cs typeface="Bodoni 72"/>
              </a:defRPr>
            </a:pPr>
            <a:r>
              <a:rPr sz="4050">
                <a:solidFill>
                  <a:srgbClr val="FFFFFF"/>
                </a:solidFill>
                <a:latin typeface="Bodoni 72"/>
                <a:ea typeface="Bodoni 72"/>
                <a:cs typeface="Bodoni 72"/>
              </a:rPr>
              <a:t>One piece,</a:t>
            </a:r>
          </a:p>
          <a:p xmlns:a="http://schemas.openxmlformats.org/drawingml/2006/main">
            <a:pPr algn="l">
              <a:defRPr sz="4050">
                <a:solidFill>
                  <a:srgbClr val="FFFFFF"/>
                </a:solidFill>
                <a:latin typeface="Bodoni 72"/>
                <a:ea typeface="Bodoni 72"/>
                <a:cs typeface="Bodoni 72"/>
              </a:defRPr>
            </a:pPr>
            <a:r>
              <a:rPr sz="4050">
                <a:solidFill>
                  <a:srgbClr val="FFFFFF"/>
                </a:solidFill>
                <a:latin typeface="Bodoni 72"/>
                <a:ea typeface="Bodoni 72"/>
                <a:cs typeface="Bodoni 72"/>
              </a:rPr>
              <a:t>back in motion.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38373-4F10-4CFF-9877-D33435C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8E0D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E8E0DA"/>
                </a:solidFill>
                <a:latin typeface="Avenir Next"/>
                <a:ea typeface="Avenir Next"/>
                <a:cs typeface="Avenir Next"/>
              </a:rPr>
              <a:t>Studio pickup after payment, by appointment.</a:t>
            </a:r>
          </a:p>
          <a:p xmlns:a="http://schemas.openxmlformats.org/drawingml/2006/main">
            <a:pPr>
              <a:defRPr sz="1575">
                <a:solidFill>
                  <a:srgbClr val="E8E0DA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E8E0DA"/>
                </a:solidFill>
                <a:latin typeface="Avenir Next"/>
                <a:ea typeface="Avenir Next"/>
                <a:cs typeface="Avenir Next"/>
              </a:rPr>
              <a:t>Lagos delivery in 1–3 working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88FD0-5196-4A7A-B53A-7670B4C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BEB7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C8BEB7"/>
                </a:solidFill>
                <a:latin typeface="Avenir Next"/>
                <a:ea typeface="Avenir Next"/>
                <a:cs typeface="Avenir Next"/>
              </a:rPr>
              <a:t>LAGOS HANDOFF · CONCEPT</a:t>
            </a:r>
          </a:p>
        </p:txBody>
      </p:sp>
      <p:sp>
        <p:nvSpPr>
          <p:cNvPr id="7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B6A9EEB3-90B4-41B2-893A-AF2CD0F7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B3C48-6552-46C7-BAFD-56F1C272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D0C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9D0C9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F902A-5939-4DC4-BAF7-6D36EED8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D9D0C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D9D0C9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5639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A1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6e81dfb6c446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154CF-9F08-4F87-9DB5-99EB1E54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D0C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8D0CA"/>
                </a:solidFill>
                <a:latin typeface="Avenir Next"/>
                <a:ea typeface="Avenir Next"/>
                <a:cs typeface="Avenir Next"/>
              </a:rPr>
              <a:t>FUTURE CAMPAIGN CONCEPT</a:t>
            </a:r>
          </a:p>
        </p:txBody>
      </p:sp>
      <p:sp>
        <p:nvSpPr>
          <p:cNvPr id="3" name="coral-tick-64-102">
            <a:extLst xmlns:a="http://schemas.openxmlformats.org/drawingml/2006/main">
              <a:ext uri="{FF2B5EF4-FFF2-40B4-BE49-F238E27FC236}">
                <a16:creationId xmlns:a16="http://schemas.microsoft.com/office/drawing/2014/main" id="{6568F62B-80FB-4083-A24A-B624A1F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1-title">
            <a:extLst xmlns:a="http://schemas.openxmlformats.org/drawingml/2006/main">
              <a:ext uri="{FF2B5EF4-FFF2-40B4-BE49-F238E27FC236}">
                <a16:creationId xmlns:a16="http://schemas.microsoft.com/office/drawing/2014/main" id="{536A8D58-761E-4CD1-BA35-7E7117A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FFFFFF"/>
                </a:solidFill>
                <a:latin typeface="Bodoni 72"/>
                <a:ea typeface="Bodoni 72"/>
                <a:cs typeface="Bodoni 72"/>
              </a:defRPr>
            </a:pPr>
            <a:r>
              <a:rPr sz="3900">
                <a:solidFill>
                  <a:srgbClr val="FFFFFF"/>
                </a:solidFill>
                <a:latin typeface="Bodoni 72"/>
                <a:ea typeface="Bodoni 72"/>
                <a:cs typeface="Bodoni 72"/>
              </a:rPr>
              <a:t>Clothes with</a:t>
            </a:r>
          </a:p>
          <a:p xmlns:a="http://schemas.openxmlformats.org/drawingml/2006/main">
            <a:pPr algn="l">
              <a:defRPr sz="3900">
                <a:solidFill>
                  <a:srgbClr val="FFFFFF"/>
                </a:solidFill>
                <a:latin typeface="Bodoni 72"/>
                <a:ea typeface="Bodoni 72"/>
                <a:cs typeface="Bodoni 72"/>
              </a:defRPr>
            </a:pPr>
            <a:r>
              <a:rPr sz="3900">
                <a:solidFill>
                  <a:srgbClr val="FFFFFF"/>
                </a:solidFill>
                <a:latin typeface="Bodoni 72"/>
                <a:ea typeface="Bodoni 72"/>
                <a:cs typeface="Bodoni 72"/>
              </a:rPr>
              <a:t>a second first</a:t>
            </a:r>
          </a:p>
          <a:p xmlns:a="http://schemas.openxmlformats.org/drawingml/2006/main">
            <a:pPr algn="l">
              <a:defRPr sz="3900">
                <a:solidFill>
                  <a:srgbClr val="FFFFFF"/>
                </a:solidFill>
                <a:latin typeface="Bodoni 72"/>
                <a:ea typeface="Bodoni 72"/>
                <a:cs typeface="Bodoni 72"/>
              </a:defRPr>
            </a:pPr>
            <a:r>
              <a:rPr sz="3900">
                <a:solidFill>
                  <a:srgbClr val="FFFFFF"/>
                </a:solidFill>
                <a:latin typeface="Bodoni 72"/>
                <a:ea typeface="Bodoni 72"/>
                <a:cs typeface="Bodoni 72"/>
              </a:rPr>
              <a:t>impression.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11EB6-1199-404A-8552-990BBB2F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D4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E2DAD4"/>
                </a:solidFill>
                <a:latin typeface="Avenir Next"/>
                <a:ea typeface="Avenir Next"/>
                <a:cs typeface="Avenir Next"/>
              </a:rPr>
              <a:t>One-off urban womenswear from Lulu’s wardrobe, ready to move through the city.</a:t>
            </a:r>
          </a:p>
        </p:txBody>
      </p:sp>
      <p:sp>
        <p:nvSpPr>
          <p:cNvPr id="6" name="s11-poster-surface">
            <a:extLst xmlns:a="http://schemas.openxmlformats.org/drawingml/2006/main">
              <a:ext uri="{FF2B5EF4-FFF2-40B4-BE49-F238E27FC236}">
                <a16:creationId xmlns:a16="http://schemas.microsoft.com/office/drawing/2014/main" id="{A7F3C72B-397E-49B5-8797-65D12599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0550"/>
            <a:ext cx="34290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2e6c6e6394305"/>
          <a:stretch xmlns:a="http://schemas.openxmlformats.org/drawingml/2006/main"/>
        </p:blipFill>
        <p:spPr>
          <a:xfrm xmlns:a="http://schemas.openxmlformats.org/drawingml/2006/main">
            <a:off x="7010400" y="841375"/>
            <a:ext cx="2057400" cy="4699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b07ecb78b49fe"/>
          <a:srcRect xmlns:a="http://schemas.openxmlformats.org/drawingml/2006/main" l="0" t="6163" r="0" b="6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1504950"/>
            <a:ext cx="2400300" cy="3505200"/>
          </a:xfrm>
          <a:prstGeom xmlns:a="http://schemas.openxmlformats.org/drawingml/2006/main" prst="rect">
            <a:avLst/>
          </a:prstGeom>
        </p:spPr>
      </p:pic>
      <p:sp>
        <p:nvSpPr>
          <p:cNvPr id="9" name="s11-v3-proof-label">
            <a:extLst xmlns:a="http://schemas.openxmlformats.org/drawingml/2006/main">
              <a:ext uri="{FF2B5EF4-FFF2-40B4-BE49-F238E27FC236}">
                <a16:creationId xmlns:a16="http://schemas.microsoft.com/office/drawing/2014/main" id="{68F3CC15-63C4-47DC-A9A2-A8690688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87F75-F6CF-4D9C-918A-84162C86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244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LULU · JUW-001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70A77-EEA6-4D53-A95E-C08974B1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65E59"/>
                </a:solidFill>
                <a:latin typeface="Avenir Next"/>
                <a:ea typeface="Avenir Next"/>
                <a:cs typeface="Avenir Next"/>
              </a:rPr>
              <a:t>DROP 01 · LAGOS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F0FCF-7E06-435D-972C-00B8C92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6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141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81412"/>
                </a:solidFill>
                <a:latin typeface="Avenir Next"/>
                <a:ea typeface="Avenir Next"/>
                <a:cs typeface="Avenir Next"/>
              </a:rPr>
              <a:t>JUW-001 · ONE PIECE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A02D4-6DA9-4566-A883-CCC64191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67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D8D0CA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D8D0CA"/>
                </a:solidFill>
                <a:latin typeface="Avenir Next"/>
                <a:ea typeface="Avenir Next"/>
                <a:cs typeface="Avenir Next"/>
              </a:rPr>
              <a:t>FUTURE CAMPAIGN CONCEPT</a:t>
            </a:r>
          </a:p>
        </p:txBody>
      </p:sp>
      <p:sp>
        <p:nvSpPr>
          <p:cNvPr id="14" name="coral-tick-64-688">
            <a:extLst xmlns:a="http://schemas.openxmlformats.org/drawingml/2006/main">
              <a:ext uri="{FF2B5EF4-FFF2-40B4-BE49-F238E27FC236}">
                <a16:creationId xmlns:a16="http://schemas.microsoft.com/office/drawing/2014/main" id="{01F75ABD-0ABE-4E77-BE41-334D884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28650-E8BB-47B4-AA13-26DE27AC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D0C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9D0C9"/>
                </a:solidFill>
                <a:latin typeface="Avenir Next"/>
                <a:ea typeface="Avenir Next"/>
                <a:cs typeface="Avenir Next"/>
              </a:rPr>
              <a:t>JUSTURBANWEARS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4C452-158B-448D-92F9-18681469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D9D0C9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D9D0C9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41899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2026-08-11T13:57:45.8340000Z</dcterms:created>
  <dcterms:modified xsi:type="dcterms:W3CDTF">2026-08-11T13:57:45.8340000Z</dcterms:modified>
</coreProperties>
</file>