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bin" ContentType="image/webp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42da90ef4244ae" /><Relationship Type="http://schemas.openxmlformats.org/officeDocument/2006/relationships/extended-properties" Target="/docProps/app.xml" Id="Rb7734ba96e384567" /><Relationship Type="http://schemas.openxmlformats.org/officeDocument/2006/relationships/officeDocument" Target="/ppt/presentation.xml" Id="Rc4deec446c4443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bfe094d38f4cc6"/>
  </p:sldMasterIdLst>
  <p:notesMasterIdLst>
    <p:notesMasterId xmlns:r="http://schemas.openxmlformats.org/officeDocument/2006/relationships" r:id="R0a2a7e846f214668"/>
  </p:notesMasterIdLst>
  <p:sldIdLst>
    <p:sldId xmlns:r="http://schemas.openxmlformats.org/officeDocument/2006/relationships" id="256" r:id="R67ec54665abf4ed3"/>
    <p:sldId xmlns:r="http://schemas.openxmlformats.org/officeDocument/2006/relationships" id="257" r:id="Rce954ac1d84044ab"/>
    <p:sldId xmlns:r="http://schemas.openxmlformats.org/officeDocument/2006/relationships" id="258" r:id="Rc8bd96e5577c461b"/>
    <p:sldId xmlns:r="http://schemas.openxmlformats.org/officeDocument/2006/relationships" id="259" r:id="R29f65de720d444dc"/>
    <p:sldId xmlns:r="http://schemas.openxmlformats.org/officeDocument/2006/relationships" id="260" r:id="R3c19ae2bfc524537"/>
    <p:sldId xmlns:r="http://schemas.openxmlformats.org/officeDocument/2006/relationships" id="261" r:id="R7a022c00fd0c4e47"/>
    <p:sldId xmlns:r="http://schemas.openxmlformats.org/officeDocument/2006/relationships" id="262" r:id="R00ffbc2807fb48ca"/>
    <p:sldId xmlns:r="http://schemas.openxmlformats.org/officeDocument/2006/relationships" id="263" r:id="R7413d6ee1857485b"/>
    <p:sldId xmlns:r="http://schemas.openxmlformats.org/officeDocument/2006/relationships" id="264" r:id="R495d1288521a4353"/>
    <p:sldId xmlns:r="http://schemas.openxmlformats.org/officeDocument/2006/relationships" id="265" r:id="R628cf33ec2ef4d11"/>
    <p:sldId xmlns:r="http://schemas.openxmlformats.org/officeDocument/2006/relationships" id="266" r:id="Rd3db92cd30f744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4a33654e264c8f" /><Relationship Type="http://schemas.openxmlformats.org/officeDocument/2006/relationships/slideMaster" Target="/ppt/slideMasters/slideMaster1.xml" Id="Radbfe094d38f4cc6" /><Relationship Type="http://schemas.openxmlformats.org/officeDocument/2006/relationships/notesMaster" Target="/ppt/notesMasters/notesMaster1.xml" Id="R0a2a7e846f214668" /><Relationship Type="http://schemas.openxmlformats.org/officeDocument/2006/relationships/presProps" Target="/ppt/presProps.xml" Id="R05e9c23c896f45b2" /><Relationship Type="http://schemas.openxmlformats.org/officeDocument/2006/relationships/tableStyles" Target="/ppt/tableStyles.xml" Id="R757289f15fee48de" /><Relationship Type="http://schemas.openxmlformats.org/officeDocument/2006/relationships/slide" Target="/ppt/slides/slide1.xml" Id="R67ec54665abf4ed3" /><Relationship Type="http://schemas.openxmlformats.org/officeDocument/2006/relationships/slide" Target="/ppt/slides/slide2.xml" Id="Rce954ac1d84044ab" /><Relationship Type="http://schemas.openxmlformats.org/officeDocument/2006/relationships/slide" Target="/ppt/slides/slide3.xml" Id="Rc8bd96e5577c461b" /><Relationship Type="http://schemas.openxmlformats.org/officeDocument/2006/relationships/slide" Target="/ppt/slides/slide4.xml" Id="R29f65de720d444dc" /><Relationship Type="http://schemas.openxmlformats.org/officeDocument/2006/relationships/slide" Target="/ppt/slides/slide5.xml" Id="R3c19ae2bfc524537" /><Relationship Type="http://schemas.openxmlformats.org/officeDocument/2006/relationships/slide" Target="/ppt/slides/slide6.xml" Id="R7a022c00fd0c4e47" /><Relationship Type="http://schemas.openxmlformats.org/officeDocument/2006/relationships/slide" Target="/ppt/slides/slide7.xml" Id="R00ffbc2807fb48ca" /><Relationship Type="http://schemas.openxmlformats.org/officeDocument/2006/relationships/slide" Target="/ppt/slides/slide8.xml" Id="R7413d6ee1857485b" /><Relationship Type="http://schemas.openxmlformats.org/officeDocument/2006/relationships/slide" Target="/ppt/slides/slide9.xml" Id="R495d1288521a4353" /><Relationship Type="http://schemas.openxmlformats.org/officeDocument/2006/relationships/slide" Target="/ppt/slides/slide10.xml" Id="R628cf33ec2ef4d11" /><Relationship Type="http://schemas.openxmlformats.org/officeDocument/2006/relationships/slide" Target="/ppt/slides/slide11.xml" Id="Rd3db92cd30f744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00e103db214d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faf95d4d07414e" /><Relationship Type="http://schemas.openxmlformats.org/officeDocument/2006/relationships/notesMaster" Target="/ppt/notesMasters/notesMaster1.xml" Id="R6cc2df8844834a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6672cb98bd422e" /><Relationship Type="http://schemas.openxmlformats.org/officeDocument/2006/relationships/notesMaster" Target="/ppt/notesMasters/notesMaster1.xml" Id="R393c51e787d14e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8e9c0ce54c4cc2" /><Relationship Type="http://schemas.openxmlformats.org/officeDocument/2006/relationships/notesMaster" Target="/ppt/notesMasters/notesMaster1.xml" Id="R99ba9976a01a46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9c89e216454b91" /><Relationship Type="http://schemas.openxmlformats.org/officeDocument/2006/relationships/notesMaster" Target="/ppt/notesMasters/notesMaster1.xml" Id="R3666e588d27a4d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06727f3e7448c0" /><Relationship Type="http://schemas.openxmlformats.org/officeDocument/2006/relationships/notesMaster" Target="/ppt/notesMasters/notesMaster1.xml" Id="R58321ea9c1aa4c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db58a82e5f4a2c" /><Relationship Type="http://schemas.openxmlformats.org/officeDocument/2006/relationships/notesMaster" Target="/ppt/notesMasters/notesMaster1.xml" Id="R8d3d46884ef747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122fc7a51847f2" /><Relationship Type="http://schemas.openxmlformats.org/officeDocument/2006/relationships/notesMaster" Target="/ppt/notesMasters/notesMaster1.xml" Id="R125062b97ab941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de546234fd413a" /><Relationship Type="http://schemas.openxmlformats.org/officeDocument/2006/relationships/notesMaster" Target="/ppt/notesMasters/notesMaster1.xml" Id="R41f107bb5ad241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d356eb686f4a45" /><Relationship Type="http://schemas.openxmlformats.org/officeDocument/2006/relationships/notesMaster" Target="/ppt/notesMasters/notesMaster1.xml" Id="R1f9b5e16626743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1e40746d02484d" /><Relationship Type="http://schemas.openxmlformats.org/officeDocument/2006/relationships/notesMaster" Target="/ppt/notesMasters/notesMaster1.xml" Id="R3a39e43395354c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fba6627a0a42d2" /><Relationship Type="http://schemas.openxmlformats.org/officeDocument/2006/relationships/notesMaster" Target="/ppt/notesMasters/notesMaster1.xml" Id="R14d072cf4bbf46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approved identity thesis in an image-light, sparse editorial composition. External references informed spacing and hierarchy only; no external assets were copied.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/Users/dyrane/Documents/ChatGPT/justurbanwears/design/identity-2026/identity-spec.json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/Users/dyrane/Documents/ChatGPT/justurbanwears/design/identity-2026/exports/app-icon-1024.png</a:t>
            </a:r>
          </a:p>
          <a:p xmlns:a="http://schemas.openxmlformats.org/drawingml/2006/main">
            <a:r>
              <a:t>- https://www.zara.com/us/en/woman-mkt1000.html</a:t>
            </a:r>
          </a:p>
          <a:p xmlns:a="http://schemas.openxmlformats.org/drawingml/2006/main">
            <a:r>
              <a:t>- https://www.fashionnova.com/</a:t>
            </a:r>
          </a:p>
          <a:p xmlns:a="http://schemas.openxmlformats.org/drawingml/2006/main">
            <a:r>
              <a:t>- https://www.apple.com/home-app/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restrained specimen board proving exact light/dark, monochrome, clear-space, minimum-size, favicon, avatar and palette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/Users/dyrane/Documents/ChatGPT/justurbanwears/design/identity-2026/identity-spec.json</a:t>
            </a:r>
          </a:p>
          <a:p xmlns:a="http://schemas.openxmlformats.org/drawingml/2006/main">
            <a:r>
              <a:t>- /Users/dyrane/Documents/ChatGPT/justurbanwears/design/identity-2026/README.md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/Users/dyrane/Documents/ChatGPT/justurbanwears/design/identity-2026/exports/wordmark-white.svg</a:t>
            </a:r>
          </a:p>
          <a:p xmlns:a="http://schemas.openxmlformats.org/drawingml/2006/main">
            <a:r>
              <a:t>- /Users/dyrane/Documents/ChatGPT/justurbanwears/design/identity-2026/exports/mark-cocoa-1024.png</a:t>
            </a:r>
          </a:p>
          <a:p xmlns:a="http://schemas.openxmlformats.org/drawingml/2006/main">
            <a:r>
              <a:t>- /Users/dyrane/Documents/ChatGPT/justurbanwears/design/identity-2026/exports/mark-black-1024.png</a:t>
            </a:r>
          </a:p>
          <a:p xmlns:a="http://schemas.openxmlformats.org/drawingml/2006/main">
            <a:r>
              <a:t>- /Users/dyrane/Documents/ChatGPT/justurbanwears/design/identity-2026/exports/mark-reverse-1024.png</a:t>
            </a:r>
          </a:p>
          <a:p xmlns:a="http://schemas.openxmlformats.org/drawingml/2006/main">
            <a:r>
              <a:t>- /Users/dyrane/Documents/ChatGPT/justurbanwears/design/identity-2026/exports/app-icon-1024.png</a:t>
            </a:r>
          </a:p>
          <a:p xmlns:a="http://schemas.openxmlformats.org/drawingml/2006/main">
            <a:r>
              <a:t>- /Users/dyrane/Documents/ChatGPT/justurbanwears/design/identity-2026/exports/favicon-48.png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Drop 01 uses one approved actual SKU and the repository-approved model-media frame. No new shoot or SKU fact is invented.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/Users/dyrane/Documents/ChatGPT/justurbanwears/public/shop/products/coral-drift-dress/04-model-front.webp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/Users/dyrane/Documents/ChatGPT/justurbanwears/scripts/shop-db/catalogue-manifest.mjs</a:t>
            </a:r>
          </a:p>
          <a:p xmlns:a="http://schemas.openxmlformats.org/drawingml/2006/main">
            <a:r>
              <a:t>- /Users/dyrane/Documents/ChatGPT/justurbanwears/lib/wardrobe-public-view/seeds.ts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visible product fact is copied from the authoritative DYN-081 catalogue record. The original-brand value is absent and therefore shown as not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/Users/dyrane/Documents/ChatGPT/justurbanwears/scripts/shop-db/catalogue-manifest.mjs</a:t>
            </a:r>
          </a:p>
          <a:p xmlns:a="http://schemas.openxmlformats.org/drawingml/2006/main">
            <a:r>
              <a:t>- /Users/dyrane/Documents/ChatGPT/justurbanwears/public/shop/products/coral-drift-dress/01-garment-front.webp</a:t>
            </a:r>
          </a:p>
          <a:p xmlns:a="http://schemas.openxmlformats.org/drawingml/2006/main">
            <a:r>
              <a:t>- /Users/dyrane/Documents/ChatGPT/justurbanwears/public/shop/products/coral-drift-dress/06-fabric-detail.webp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 application only. It makes the removable provenance tag visibly separate from the untouched original maker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/Users/dyrane/Documents/ChatGPT/justurbanwears/.tmp/identity-presentation-019fef2e/assets/provenance-concept.png</a:t>
            </a:r>
          </a:p>
          <a:p xmlns:a="http://schemas.openxmlformats.org/drawingml/2006/main">
            <a:r>
              <a:t>- /Users/dyrane/Documents/ChatGPT/justurbanwears/design/identity-2026/exports/mark-reverse-1024.png</a:t>
            </a:r>
          </a:p>
          <a:p xmlns:a="http://schemas.openxmlformats.org/drawingml/2006/main">
            <a:r>
              <a:t>- /Users/dyrane/Documents/ChatGPT/justurbanwears/design/identity-2026/README.md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 process visual only. The record fields shown elsewhere are real; the image is not claimed as documentary evidence of Lulu at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/Users/dyrane/Documents/ChatGPT/justurbanwears/.tmp/identity-presentation-019fef2e/assets/behind-edit-concept.png</a:t>
            </a:r>
          </a:p>
          <a:p xmlns:a="http://schemas.openxmlformats.org/drawingml/2006/main">
            <a:r>
              <a:t>- /Users/dyrane/Documents/ChatGPT/justurbanwears/lib/studio/domain/entities.ts</a:t>
            </a:r>
          </a:p>
          <a:p xmlns:a="http://schemas.openxmlformats.org/drawingml/2006/main">
            <a:r>
              <a:t>- /Users/dyrane/Documents/ChatGPT/justurbanwears/scripts/shop-db/catalogue-manifest.mjs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Packaging application concept. Blank mock objects are combined with the exact production wordmark in-slide; no implemented packaging inventory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/Users/dyrane/Documents/ChatGPT/justurbanwears/.tmp/identity-presentation-019fef2e/assets/packaging-concept.png</a:t>
            </a:r>
          </a:p>
          <a:p xmlns:a="http://schemas.openxmlformats.org/drawingml/2006/main">
            <a:r>
              <a:t>- /Users/dyrane/Documents/ChatGPT/justurbanwears/design/identity-2026/exports/mark-cocoa-1024.png</a:t>
            </a:r>
          </a:p>
          <a:p xmlns:a="http://schemas.openxmlformats.org/drawingml/2006/main">
            <a:r>
              <a:t>- /Users/dyrane/Documents/ChatGPT/justurbanwears/design/identity-2026/exports/wordmark-white.svg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/Users/dyrane/Documents/ChatGPT/justurbanwears/design/identity-2026/identity-spec.json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Apple-like centered device proof using real current app captures and exact production PWA/favicon masters.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/Users/dyrane/Documents/ChatGPT/justurbanwears/.tmp/identity-presentation-019fef2e/assets/storefront-desktop.png</a:t>
            </a:r>
          </a:p>
          <a:p xmlns:a="http://schemas.openxmlformats.org/drawingml/2006/main">
            <a:r>
              <a:t>- /Users/dyrane/Documents/ChatGPT/justurbanwears/.tmp/identity-presentation-019fef2e/assets/product-mobile.png</a:t>
            </a:r>
          </a:p>
          <a:p xmlns:a="http://schemas.openxmlformats.org/drawingml/2006/main">
            <a:r>
              <a:t>- /Users/dyrane/Documents/ChatGPT/justurbanwears/design/identity-2026/exports/app-icon-1024.png</a:t>
            </a:r>
          </a:p>
          <a:p xmlns:a="http://schemas.openxmlformats.org/drawingml/2006/main">
            <a:r>
              <a:t>- /Users/dyrane/Documents/ChatGPT/justurbanwears/design/identity-2026/exports/favicon-48.png</a:t>
            </a:r>
          </a:p>
          <a:p xmlns:a="http://schemas.openxmlformats.org/drawingml/2006/main">
            <a:r>
              <a:t>- http://localhost:3000/shop (captured 2026-08-11)</a:t>
            </a:r>
          </a:p>
          <a:p xmlns:a="http://schemas.openxmlformats.org/drawingml/2006/main">
            <a:r>
              <a:t>- http://localhost:3000/shop/products/coral-drift-dress (captured 2026-08-11)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story treatments are explicitly labeled concepts using actual approved product media. The checkout is a real production capture after adding DYN-081 locally; no form was submitted and no message was 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/Users/dyrane/Documents/ChatGPT/justurbanwears/public/shop/products/coral-drift-dress/04-model-front.webp</a:t>
            </a:r>
          </a:p>
          <a:p xmlns:a="http://schemas.openxmlformats.org/drawingml/2006/main">
            <a:r>
              <a:t>- /Users/dyrane/Documents/ChatGPT/justurbanwears/public/shop/products/coral-drift-dress/01-garment-front.webp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/Users/dyrane/Documents/ChatGPT/justurbanwears/.tmp/identity-presentation-019fef2e/assets/whatsapp-checkout-desktop-detail.png</a:t>
            </a:r>
          </a:p>
          <a:p xmlns:a="http://schemas.openxmlformats.org/drawingml/2006/main">
            <a:r>
              <a:t>- https://www.justurbanwears.com/shop/checkout (captured 2026-08-11; local browser bag only; no submission)</a:t>
            </a:r>
          </a:p>
          <a:p xmlns:a="http://schemas.openxmlformats.org/drawingml/2006/main">
            <a:r>
              <a:t>- /Users/dyrane/Documents/ChatGPT/justurbanwears/components/shop/shop-checkout.tsx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city visual is a clearly labeled concept. Studio pickup and Lagos-delivery wording are real checkout options; no actual customer/courier event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/Users/dyrane/Documents/ChatGPT/justurbanwears/.tmp/identity-presentation-019fef2e/assets/lagos-handoff-concept.png</a:t>
            </a:r>
          </a:p>
          <a:p xmlns:a="http://schemas.openxmlformats.org/drawingml/2006/main">
            <a:r>
              <a:t>- /Users/dyrane/Documents/ChatGPT/justurbanwears/components/shop/shop-checkout.tsx</a:t>
            </a:r>
          </a:p>
          <a:p xmlns:a="http://schemas.openxmlformats.org/drawingml/2006/main">
            <a:r>
              <a:t>- /Users/dyrane/Documents/ChatGPT/justurbanwears/lib/shop/commerce.ts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closing visual, explicitly labeled Future campaign concept. The environment is generated; the applied wordmark and DYN-081 model frame are exact approved repository assets.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/Users/dyrane/Documents/ChatGPT/justurbanwears/.tmp/identity-presentation-019fef2e/assets/street-poster-concept.png</a:t>
            </a:r>
          </a:p>
          <a:p xmlns:a="http://schemas.openxmlformats.org/drawingml/2006/main">
            <a:r>
              <a:t>- /Users/dyrane/Documents/ChatGPT/justurbanwears/design/identity-2026/exports/wordmark-cocoa-1620.png</a:t>
            </a:r>
          </a:p>
          <a:p xmlns:a="http://schemas.openxmlformats.org/drawingml/2006/main">
            <a:r>
              <a:t>- /Users/dyrane/Documents/ChatGPT/justurbanwears/public/shop/products/coral-drift-dress/04-model-front.webp</a:t>
            </a:r>
          </a:p>
          <a:p xmlns:a="http://schemas.openxmlformats.org/drawingml/2006/main">
            <a:r>
              <a:t>- /Users/dyrane/Documents/ChatGPT/justurbanwears/design/identity-2026/identity-spec.json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3c63ae1db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b93a7f5d5b4efc" /><Relationship Type="http://schemas.openxmlformats.org/officeDocument/2006/relationships/slideLayout" Target="/ppt/slideLayouts/slideLayout1.xml" Id="R7bb97486427d41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b97486427d41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25ad4abc54dc3" /><Relationship Type="http://schemas.openxmlformats.org/officeDocument/2006/relationships/image" Target="/ppt/media/image.png" Id="R89daa1410298458c" /><Relationship Type="http://schemas.openxmlformats.org/officeDocument/2006/relationships/image" Target="/ppt/media/image2.png" Id="R6c1fc235cbc64e9c" /><Relationship Type="http://schemas.openxmlformats.org/officeDocument/2006/relationships/notesSlide" Target="/ppt/notesSlides/notesSlide1.xml" Id="R72da987a30c646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8c5be801542c8" /><Relationship Type="http://schemas.openxmlformats.org/officeDocument/2006/relationships/image" Target="/ppt/media/image3.png" Id="R1f59886b153f47d8" /><Relationship Type="http://schemas.openxmlformats.org/officeDocument/2006/relationships/image" Target="/ppt/media/image4.png" Id="R3778828be05a460d" /><Relationship Type="http://schemas.openxmlformats.org/officeDocument/2006/relationships/image" Target="/ppt/media/image5.png" Id="R37ce17e371fb4392" /><Relationship Type="http://schemas.openxmlformats.org/officeDocument/2006/relationships/image" Target="/ppt/media/image.svg" Id="R28f0c266ea224f7c" /><Relationship Type="http://schemas.openxmlformats.org/officeDocument/2006/relationships/image" Target="/ppt/media/image6.png" Id="R11fd96bae9004bda" /><Relationship Type="http://schemas.openxmlformats.org/officeDocument/2006/relationships/image" Target="/ppt/media/image7.png" Id="R3262768b109042b7" /><Relationship Type="http://schemas.openxmlformats.org/officeDocument/2006/relationships/image" Target="/ppt/media/image8.png" Id="Rcfacd17ca9434e22" /><Relationship Type="http://schemas.openxmlformats.org/officeDocument/2006/relationships/image" Target="/ppt/media/image9.png" Id="R4a03ef6be98d44ef" /><Relationship Type="http://schemas.openxmlformats.org/officeDocument/2006/relationships/image" Target="/ppt/media/image10.png" Id="R8a1fc6df83b3440e" /><Relationship Type="http://schemas.openxmlformats.org/officeDocument/2006/relationships/image" Target="/ppt/media/image11.png" Id="R7cff015aabe44750" /><Relationship Type="http://schemas.openxmlformats.org/officeDocument/2006/relationships/image" Target="/ppt/media/image12.png" Id="Rd0d60ed0e6074f4c" /><Relationship Type="http://schemas.openxmlformats.org/officeDocument/2006/relationships/notesSlide" Target="/ppt/notesSlides/notesSlide2.xml" Id="R317300aa7ff14f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7ab4c86334d42" /><Relationship Type="http://schemas.openxmlformats.org/officeDocument/2006/relationships/image" Target="/ppt/media/image.bin" Id="R17f9f5f146f1415c" /><Relationship Type="http://schemas.openxmlformats.org/officeDocument/2006/relationships/image" Target="/ppt/media/image13.png" Id="R92fc49b417ad4add" /><Relationship Type="http://schemas.openxmlformats.org/officeDocument/2006/relationships/notesSlide" Target="/ppt/notesSlides/notesSlide3.xml" Id="R7513eabbc13d45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fa0b1a81f4abb" /><Relationship Type="http://schemas.openxmlformats.org/officeDocument/2006/relationships/image" Target="/ppt/media/image2.bin" Id="R1aa7b40c256344ba" /><Relationship Type="http://schemas.openxmlformats.org/officeDocument/2006/relationships/image" Target="/ppt/media/image3.bin" Id="R08675c04ccd24520" /><Relationship Type="http://schemas.openxmlformats.org/officeDocument/2006/relationships/notesSlide" Target="/ppt/notesSlides/notesSlide4.xml" Id="R6b1c3f2be33f41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0e2c4d7a44925" /><Relationship Type="http://schemas.openxmlformats.org/officeDocument/2006/relationships/image" Target="/ppt/media/image14.png" Id="R75dccfcd4a9b4285" /><Relationship Type="http://schemas.openxmlformats.org/officeDocument/2006/relationships/image" Target="/ppt/media/image15.png" Id="Re754bdec25334661" /><Relationship Type="http://schemas.openxmlformats.org/officeDocument/2006/relationships/notesSlide" Target="/ppt/notesSlides/notesSlide5.xml" Id="R645439b7221142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44d182ae246b4" /><Relationship Type="http://schemas.openxmlformats.org/officeDocument/2006/relationships/image" Target="/ppt/media/image16.png" Id="R4d3f6b0aeec34e68" /><Relationship Type="http://schemas.openxmlformats.org/officeDocument/2006/relationships/notesSlide" Target="/ppt/notesSlides/notesSlide6.xml" Id="Rbd172145e7274c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56f579afb484b" /><Relationship Type="http://schemas.openxmlformats.org/officeDocument/2006/relationships/image" Target="/ppt/media/image17.png" Id="R0a3abf10cb394163" /><Relationship Type="http://schemas.openxmlformats.org/officeDocument/2006/relationships/image" Target="/ppt/media/image18.png" Id="R738e6cb34dbc4db1" /><Relationship Type="http://schemas.openxmlformats.org/officeDocument/2006/relationships/image" Target="/ppt/media/image2.svg" Id="Rf5cc7925c2d24a86" /><Relationship Type="http://schemas.openxmlformats.org/officeDocument/2006/relationships/image" Target="/ppt/media/image19.png" Id="R99188d38bfed4a87" /><Relationship Type="http://schemas.openxmlformats.org/officeDocument/2006/relationships/image" Target="/ppt/media/image20.png" Id="R1c3a79bacf024f87" /><Relationship Type="http://schemas.openxmlformats.org/officeDocument/2006/relationships/image" Target="/ppt/media/image21.png" Id="Rbafe299449204de1" /><Relationship Type="http://schemas.openxmlformats.org/officeDocument/2006/relationships/image" Target="/ppt/media/image22.png" Id="R838a604ecad5400f" /><Relationship Type="http://schemas.openxmlformats.org/officeDocument/2006/relationships/notesSlide" Target="/ppt/notesSlides/notesSlide7.xml" Id="R4faf780be7864f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d9c8a4c5a4e29" /><Relationship Type="http://schemas.openxmlformats.org/officeDocument/2006/relationships/image" Target="/ppt/media/image.jpeg" Id="R6360a8584abb4887" /><Relationship Type="http://schemas.openxmlformats.org/officeDocument/2006/relationships/image" Target="/ppt/media/image2.jpeg" Id="Ra5e9fb2e787749e7" /><Relationship Type="http://schemas.openxmlformats.org/officeDocument/2006/relationships/image" Target="/ppt/media/image23.png" Id="Rc25798c5fdc94b95" /><Relationship Type="http://schemas.openxmlformats.org/officeDocument/2006/relationships/image" Target="/ppt/media/image24.png" Id="Ra8e08cf432b44ffc" /><Relationship Type="http://schemas.openxmlformats.org/officeDocument/2006/relationships/notesSlide" Target="/ppt/notesSlides/notesSlide8.xml" Id="Ra1065b5e1c2040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6e5cbe9994851" /><Relationship Type="http://schemas.openxmlformats.org/officeDocument/2006/relationships/image" Target="/ppt/media/image4.bin" Id="Rfd2f002666d2477a" /><Relationship Type="http://schemas.openxmlformats.org/officeDocument/2006/relationships/image" Target="/ppt/media/image25.png" Id="R7ab28c46a0554321" /><Relationship Type="http://schemas.openxmlformats.org/officeDocument/2006/relationships/image" Target="/ppt/media/image5.bin" Id="R2245a55d64b04996" /><Relationship Type="http://schemas.openxmlformats.org/officeDocument/2006/relationships/image" Target="/ppt/media/image3.jpeg" Id="Re34c7e4d8b914ca3" /><Relationship Type="http://schemas.openxmlformats.org/officeDocument/2006/relationships/notesSlide" Target="/ppt/notesSlides/notesSlide9.xml" Id="R3d80edb44df544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889897c684e8e" /><Relationship Type="http://schemas.openxmlformats.org/officeDocument/2006/relationships/image" Target="/ppt/media/image26.png" Id="R4fe3c5085ede4225" /><Relationship Type="http://schemas.openxmlformats.org/officeDocument/2006/relationships/notesSlide" Target="/ppt/notesSlides/notesSlide10.xml" Id="Rbce64882a24c48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77fefa3b344cc" /><Relationship Type="http://schemas.openxmlformats.org/officeDocument/2006/relationships/image" Target="/ppt/media/image27.png" Id="Rcce31ee316dc4595" /><Relationship Type="http://schemas.openxmlformats.org/officeDocument/2006/relationships/image" Target="/ppt/media/image28.png" Id="Re16a33275b634339" /><Relationship Type="http://schemas.openxmlformats.org/officeDocument/2006/relationships/image" Target="/ppt/media/image6.bin" Id="R52f2e03f36f347cb" /><Relationship Type="http://schemas.openxmlformats.org/officeDocument/2006/relationships/notesSlide" Target="/ppt/notesSlides/notesSlide11.xml" Id="R0d4ef05e6fd942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aa1410298458c"/>
          <a:stretch xmlns:a="http://schemas.openxmlformats.org/drawingml/2006/main"/>
        </p:blipFill>
        <p:spPr>
          <a:xfrm xmlns:a="http://schemas.openxmlformats.org/drawingml/2006/main">
            <a:off x="3943350" y="537045"/>
            <a:ext cx="4305300" cy="983309"/>
          </a:xfrm>
          <a:prstGeom xmlns:a="http://schemas.openxmlformats.org/drawingml/2006/main" prst="rect">
            <a:avLst/>
          </a:prstGeom>
        </p:spPr>
      </p:pic>
      <p:sp>
        <p:nvSpPr>
          <p:cNvPr id="2" name="coral-tick-626-190">
            <a:extLst xmlns:a="http://schemas.openxmlformats.org/drawingml/2006/main">
              <a:ext uri="{FF2B5EF4-FFF2-40B4-BE49-F238E27FC236}">
                <a16:creationId xmlns:a16="http://schemas.microsoft.com/office/drawing/2014/main" id="{B8331968-BF2E-47E4-9C4F-9AC5E05D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1-title">
            <a:extLst xmlns:a="http://schemas.openxmlformats.org/drawingml/2006/main">
              <a:ext uri="{FF2B5EF4-FFF2-40B4-BE49-F238E27FC236}">
                <a16:creationId xmlns:a16="http://schemas.microsoft.com/office/drawing/2014/main" id="{4B7DF01B-B2C1-48FC-BF9D-AF18F3F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14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46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Clothes with a</a:t>
            </a:r>
          </a:p>
          <a:p xmlns:a="http://schemas.openxmlformats.org/drawingml/2006/main">
            <a:pPr algn="ctr">
              <a:defRPr sz="46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46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second first impression.</a:t>
            </a:r>
          </a:p>
        </p:txBody>
      </p:sp>
      <p:sp>
        <p:nvSpPr>
          <p:cNvPr id="4" name="s1-descriptor">
            <a:extLst xmlns:a="http://schemas.openxmlformats.org/drawingml/2006/main">
              <a:ext uri="{FF2B5EF4-FFF2-40B4-BE49-F238E27FC236}">
                <a16:creationId xmlns:a16="http://schemas.microsoft.com/office/drawing/2014/main" id="{65C33D05-526B-410B-9F02-A6787C8F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One-off urban womenswear from Lulu’s wardrobe, ready to move through the city.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fc235cbc64e9c"/>
          <a:stretch xmlns:a="http://schemas.openxmlformats.org/drawingml/2006/main"/>
        </p:blipFill>
        <p:spPr>
          <a:xfrm xmlns:a="http://schemas.openxmlformats.org/drawingml/2006/main">
            <a:off x="5638800" y="485775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CA53A0-3989-4C28-BCD0-AE2F1F69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905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WORDMARK = LOGO · JU/W = ICON</a:t>
            </a:r>
          </a:p>
        </p:txBody>
      </p:sp>
      <p:sp>
        <p:nvSpPr>
          <p:cNvPr id="7" name="s1-cocoa-swatch">
            <a:extLst xmlns:a="http://schemas.openxmlformats.org/drawingml/2006/main">
              <a:ext uri="{FF2B5EF4-FFF2-40B4-BE49-F238E27FC236}">
                <a16:creationId xmlns:a16="http://schemas.microsoft.com/office/drawing/2014/main" id="{7068E43C-CAA3-4F97-BBE4-E9DE2147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DFE351-39D4-4AB9-A16E-C49BFC71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172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Cocoa #2A1710</a:t>
            </a:r>
          </a:p>
        </p:txBody>
      </p:sp>
      <p:sp>
        <p:nvSpPr>
          <p:cNvPr id="9" name="s1-coral-swatch">
            <a:extLst xmlns:a="http://schemas.openxmlformats.org/drawingml/2006/main">
              <a:ext uri="{FF2B5EF4-FFF2-40B4-BE49-F238E27FC236}">
                <a16:creationId xmlns:a16="http://schemas.microsoft.com/office/drawing/2014/main" id="{15B47733-4EA8-4DBD-8EC7-51A2D91B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FDC74-CF1B-4864-99E6-1B8BEDEA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172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Coral #F28A62</a:t>
            </a:r>
          </a:p>
        </p:txBody>
      </p:sp>
      <p:sp>
        <p:nvSpPr>
          <p:cNvPr id="11" name="s1-paper-swatch">
            <a:extLst xmlns:a="http://schemas.openxmlformats.org/drawingml/2006/main">
              <a:ext uri="{FF2B5EF4-FFF2-40B4-BE49-F238E27FC236}">
                <a16:creationId xmlns:a16="http://schemas.microsoft.com/office/drawing/2014/main" id="{6726F47B-482C-438A-81E8-43B3F133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F9D38-7815-4870-A46D-7CB467D0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61722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Warm paper #FFF8F4</a:t>
            </a:r>
          </a:p>
        </p:txBody>
      </p:sp>
      <p:sp>
        <p:nvSpPr>
          <p:cNvPr id="13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29E5F197-6E6A-4B57-A4EE-DD1F41E5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C211B1-1ACB-46F7-B3E9-F2B0C6AA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6D8FDD-0F1B-4B59-9BC0-96795E73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893809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F4FDE6-0130-4574-942D-B2B9E19A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TECHNICAL PROOF</a:t>
            </a:r>
          </a:p>
        </p:txBody>
      </p:sp>
      <p:sp>
        <p:nvSpPr>
          <p:cNvPr id="2" name="s2-title">
            <a:extLst xmlns:a="http://schemas.openxmlformats.org/drawingml/2006/main">
              <a:ext uri="{FF2B5EF4-FFF2-40B4-BE49-F238E27FC236}">
                <a16:creationId xmlns:a16="http://schemas.microsoft.com/office/drawing/2014/main" id="{42716BDF-6157-40C4-93B4-F9498599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One system. Every reduction resolved.</a:t>
            </a:r>
          </a:p>
        </p:txBody>
      </p:sp>
      <p:sp>
        <p:nvSpPr>
          <p:cNvPr id="3" name="coral-tick-64-134">
            <a:extLst xmlns:a="http://schemas.openxmlformats.org/drawingml/2006/main">
              <a:ext uri="{FF2B5EF4-FFF2-40B4-BE49-F238E27FC236}">
                <a16:creationId xmlns:a16="http://schemas.microsoft.com/office/drawing/2014/main" id="{C86BCF56-EEE3-4CE6-B887-C9120657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2-light">
            <a:extLst xmlns:a="http://schemas.openxmlformats.org/drawingml/2006/main">
              <a:ext uri="{FF2B5EF4-FFF2-40B4-BE49-F238E27FC236}">
                <a16:creationId xmlns:a16="http://schemas.microsoft.com/office/drawing/2014/main" id="{24C72B11-C62D-4F23-80D1-9552AB27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5219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5490F-FFF7-4470-8919-792518DA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LIGHT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9886b153f47d8"/>
          <a:stretch xmlns:a="http://schemas.openxmlformats.org/drawingml/2006/main"/>
        </p:blipFill>
        <p:spPr>
          <a:xfrm xmlns:a="http://schemas.openxmlformats.org/drawingml/2006/main">
            <a:off x="819150" y="2114609"/>
            <a:ext cx="2209800" cy="504707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8828be05a460d"/>
          <a:stretch xmlns:a="http://schemas.openxmlformats.org/drawingml/2006/main"/>
        </p:blipFill>
        <p:spPr>
          <a:xfrm xmlns:a="http://schemas.openxmlformats.org/drawingml/2006/main">
            <a:off x="4686300" y="184785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8" name="s2-dark">
            <a:extLst xmlns:a="http://schemas.openxmlformats.org/drawingml/2006/main">
              <a:ext uri="{FF2B5EF4-FFF2-40B4-BE49-F238E27FC236}">
                <a16:creationId xmlns:a16="http://schemas.microsoft.com/office/drawing/2014/main" id="{DBEEA2C7-5067-459B-BDEC-52E624A1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00200"/>
            <a:ext cx="5600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9EF12-8DCE-49DD-A3D3-02AB488E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DARK · ONE-COLOUR REVERSE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e17e371fb4392">
            <a:extLst>
              <a:ext uri="{96DAC541-7B7A-43D3-8B79-37D633B846F1}">
                <asvg:svgBlip xmlns:asvg="http://schemas.microsoft.com/office/drawing/2016/SVG/main" r:embed="R28f0c266ea224f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0" y="2114550"/>
            <a:ext cx="2209800" cy="504825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d96bae9004bda"/>
          <a:stretch xmlns:a="http://schemas.openxmlformats.org/drawingml/2006/main"/>
        </p:blipFill>
        <p:spPr>
          <a:xfrm xmlns:a="http://schemas.openxmlformats.org/drawingml/2006/main">
            <a:off x="10287000" y="184785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98CCB-0580-4647-A5C7-A60F8018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CLEAR SPACE</a:t>
            </a:r>
          </a:p>
        </p:txBody>
      </p:sp>
      <p:sp>
        <p:nvSpPr>
          <p:cNvPr id="13" name="s2-clear">
            <a:extLst xmlns:a="http://schemas.openxmlformats.org/drawingml/2006/main">
              <a:ext uri="{FF2B5EF4-FFF2-40B4-BE49-F238E27FC236}">
                <a16:creationId xmlns:a16="http://schemas.microsoft.com/office/drawing/2014/main" id="{9B7539BE-BFFA-4005-9DF7-1B185FA0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276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14" name="s2-clear-zone">
            <a:extLst xmlns:a="http://schemas.openxmlformats.org/drawingml/2006/main">
              <a:ext uri="{FF2B5EF4-FFF2-40B4-BE49-F238E27FC236}">
                <a16:creationId xmlns:a16="http://schemas.microsoft.com/office/drawing/2014/main" id="{086BF307-3984-44BA-9370-9539E7CB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14750"/>
            <a:ext cx="16764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28A62"/>
            </a:solidFill>
            <a:prstDash val="solid"/>
          </a:ln>
        </p:spPr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2768b109042b7"/>
          <a:stretch xmlns:a="http://schemas.openxmlformats.org/drawingml/2006/main"/>
        </p:blipFill>
        <p:spPr>
          <a:xfrm xmlns:a="http://schemas.openxmlformats.org/drawingml/2006/main">
            <a:off x="1771650" y="407670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334883-E938-44FD-A214-2971464C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28A6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28A62"/>
                </a:solidFill>
                <a:latin typeface="Avenir Next"/>
                <a:ea typeface="Avenir Next"/>
                <a:cs typeface="Avenir Next"/>
              </a:rPr>
              <a:t>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4F968A-ADD9-42F0-A556-B84C95B7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X = 40 units · full 512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9708E-57EF-4051-9C29-2DE246CB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05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MINIMUM SIZES</a:t>
            </a:r>
          </a:p>
        </p:txBody>
      </p:sp>
      <p:sp>
        <p:nvSpPr>
          <p:cNvPr id="19" name="s2-min">
            <a:extLst xmlns:a="http://schemas.openxmlformats.org/drawingml/2006/main">
              <a:ext uri="{FF2B5EF4-FFF2-40B4-BE49-F238E27FC236}">
                <a16:creationId xmlns:a16="http://schemas.microsoft.com/office/drawing/2014/main" id="{4C02B177-CDC6-495A-9F9D-FA3FC857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09950"/>
            <a:ext cx="3276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cd17ca9434e22"/>
          <a:stretch xmlns:a="http://schemas.openxmlformats.org/drawingml/2006/main"/>
        </p:blipFill>
        <p:spPr>
          <a:xfrm xmlns:a="http://schemas.openxmlformats.org/drawingml/2006/main">
            <a:off x="4591565" y="3733800"/>
            <a:ext cx="1751570" cy="4000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EFBD86-C211-4F07-898C-EE1581BC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140 px minimum wordmark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3ef6be98d44ef"/>
          <a:stretch xmlns:a="http://schemas.openxmlformats.org/drawingml/2006/main"/>
        </p:blipFill>
        <p:spPr>
          <a:xfrm xmlns:a="http://schemas.openxmlformats.org/drawingml/2006/main">
            <a:off x="4743450" y="464820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fc6df83b3440e"/>
          <a:stretch xmlns:a="http://schemas.openxmlformats.org/drawingml/2006/main"/>
        </p:blipFill>
        <p:spPr>
          <a:xfrm xmlns:a="http://schemas.openxmlformats.org/drawingml/2006/main">
            <a:off x="6362700" y="47244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4A130-6C57-49F8-99EC-BF7AD78D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006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32 standard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2B2319-1AD4-486B-B869-642C1E7D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16–24 micro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80350F-1028-4488-B68C-BCC479C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4355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24 micro → 32 standard · no 25–31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0D0188-AD38-4AB0-856B-77CF02DE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PLATFORM + PALETTE</a:t>
            </a:r>
          </a:p>
        </p:txBody>
      </p:sp>
      <p:sp>
        <p:nvSpPr>
          <p:cNvPr id="28" name="s2-platform">
            <a:extLst xmlns:a="http://schemas.openxmlformats.org/drawingml/2006/main">
              <a:ext uri="{FF2B5EF4-FFF2-40B4-BE49-F238E27FC236}">
                <a16:creationId xmlns:a16="http://schemas.microsoft.com/office/drawing/2014/main" id="{CF5825C4-D054-4A75-AEEC-2017AE6C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09950"/>
            <a:ext cx="3581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ff015aabe44750"/>
          <a:stretch xmlns:a="http://schemas.openxmlformats.org/drawingml/2006/main"/>
        </p:blipFill>
        <p:spPr>
          <a:xfrm xmlns:a="http://schemas.openxmlformats.org/drawingml/2006/main">
            <a:off x="8305800" y="3714750"/>
            <a:ext cx="1181100" cy="1181100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60ed0e6074f4c"/>
          <a:stretch xmlns:a="http://schemas.openxmlformats.org/drawingml/2006/main"/>
        </p:blipFill>
        <p:spPr>
          <a:xfrm xmlns:a="http://schemas.openxmlformats.org/drawingml/2006/main">
            <a:off x="9963150" y="3981450"/>
            <a:ext cx="647700" cy="64770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45359C-A653-4533-B29D-777172AE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1015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Avatar / PWA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F94926-CA80-4CA7-A565-0DD7DDDC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7053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Favicon</a:t>
            </a:r>
          </a:p>
        </p:txBody>
      </p:sp>
      <p:sp>
        <p:nvSpPr>
          <p:cNvPr id="33" name="s2-cocoa">
            <a:extLst xmlns:a="http://schemas.openxmlformats.org/drawingml/2006/main">
              <a:ext uri="{FF2B5EF4-FFF2-40B4-BE49-F238E27FC236}">
                <a16:creationId xmlns:a16="http://schemas.microsoft.com/office/drawing/2014/main" id="{B2C8DB35-8765-4810-82DE-F3241200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4033ED-11E1-4EE3-A14F-9129A3E5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33400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#2A1710</a:t>
            </a:r>
          </a:p>
        </p:txBody>
      </p:sp>
      <p:sp>
        <p:nvSpPr>
          <p:cNvPr id="35" name="s2-coral">
            <a:extLst xmlns:a="http://schemas.openxmlformats.org/drawingml/2006/main">
              <a:ext uri="{FF2B5EF4-FFF2-40B4-BE49-F238E27FC236}">
                <a16:creationId xmlns:a16="http://schemas.microsoft.com/office/drawing/2014/main" id="{8AC2F983-993C-4277-B850-6B734E20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3B267B-E9D6-4C88-9D26-EFE70BA1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#F28A62</a:t>
            </a:r>
          </a:p>
        </p:txBody>
      </p:sp>
      <p:sp>
        <p:nvSpPr>
          <p:cNvPr id="37" name="s2-paper">
            <a:extLst xmlns:a="http://schemas.openxmlformats.org/drawingml/2006/main">
              <a:ext uri="{FF2B5EF4-FFF2-40B4-BE49-F238E27FC236}">
                <a16:creationId xmlns:a16="http://schemas.microsoft.com/office/drawing/2014/main" id="{802F2217-1579-486E-8A0F-DCB04866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BB9AC1-4FB7-417A-8D5F-93653F36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3340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#FFF8F4</a:t>
            </a:r>
          </a:p>
        </p:txBody>
      </p:sp>
      <p:sp>
        <p:nvSpPr>
          <p:cNvPr id="39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246B6290-2B98-4910-929D-E71A69DF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5AF834-6526-45F3-A53D-2FF1C172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D9538F-2367-4B34-993C-16D66A6E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035388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f5f146f1415c"/>
          <a:srcRect xmlns:a="http://schemas.openxmlformats.org/drawingml/2006/main" l="0" t="23118" r="0" b="23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3900" y="0"/>
            <a:ext cx="76581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0F20F-6A5E-4600-AC10-2792FA7E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DROP 01 · LAGOS</a:t>
            </a:r>
          </a:p>
        </p:txBody>
      </p:sp>
      <p:sp>
        <p:nvSpPr>
          <p:cNvPr id="3" name="coral-tick-64-108">
            <a:extLst xmlns:a="http://schemas.openxmlformats.org/drawingml/2006/main">
              <a:ext uri="{FF2B5EF4-FFF2-40B4-BE49-F238E27FC236}">
                <a16:creationId xmlns:a16="http://schemas.microsoft.com/office/drawing/2014/main" id="{E04FF171-D62A-481D-8B76-AAFEAE04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3-title">
            <a:extLst xmlns:a="http://schemas.openxmlformats.org/drawingml/2006/main">
              <a:ext uri="{FF2B5EF4-FFF2-40B4-BE49-F238E27FC236}">
                <a16:creationId xmlns:a16="http://schemas.microsoft.com/office/drawing/2014/main" id="{0AB46A54-C000-45CB-AFFD-2B8FB5E8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33147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One approved</a:t>
            </a:r>
          </a:p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piece carries</a:t>
            </a:r>
          </a:p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the whole identity.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F18F1-6882-4E12-85B4-89B4C25D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672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CORAL DRIFT 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DEF02-803B-4E4B-BCAB-2F9DD147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DYN-081 · AVAILABLE · ₦24,500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c49b417ad4add"/>
          <a:stretch xmlns:a="http://schemas.openxmlformats.org/drawingml/2006/main"/>
        </p:blipFill>
        <p:spPr>
          <a:xfrm xmlns:a="http://schemas.openxmlformats.org/drawingml/2006/main">
            <a:off x="628650" y="5240338"/>
            <a:ext cx="2571750" cy="587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E618E-D6DC-40FF-AD6D-12853232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Approved repository product-media frame</a:t>
            </a:r>
          </a:p>
        </p:txBody>
      </p:sp>
      <p:sp>
        <p:nvSpPr>
          <p:cNvPr id="9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3DEBFA7B-0155-4C2E-995A-F05FADB6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14C20-AFDE-4B03-BBED-761CF47D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4636B-E6E1-4515-B669-82B5CDA4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245574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EE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67B97D-C17D-4CCC-BB5A-A776020A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ONE PIECE, ONE RECORD</a:t>
            </a:r>
          </a:p>
        </p:txBody>
      </p:sp>
      <p:sp>
        <p:nvSpPr>
          <p:cNvPr id="2" name="s4-title">
            <a:extLst xmlns:a="http://schemas.openxmlformats.org/drawingml/2006/main">
              <a:ext uri="{FF2B5EF4-FFF2-40B4-BE49-F238E27FC236}">
                <a16:creationId xmlns:a16="http://schemas.microsoft.com/office/drawing/2014/main" id="{BC52FC1D-4F04-4F27-BA20-BB9C6DDE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Every detail earns trust.</a:t>
            </a:r>
          </a:p>
        </p:txBody>
      </p:sp>
      <p:sp>
        <p:nvSpPr>
          <p:cNvPr id="3" name="coral-tick-64-144">
            <a:extLst xmlns:a="http://schemas.openxmlformats.org/drawingml/2006/main">
              <a:ext uri="{FF2B5EF4-FFF2-40B4-BE49-F238E27FC236}">
                <a16:creationId xmlns:a16="http://schemas.microsoft.com/office/drawing/2014/main" id="{AACFCC64-3FB4-489E-9611-E195D5A7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7b40c256344ba"/>
          <a:srcRect xmlns:a="http://schemas.openxmlformats.org/drawingml/2006/main" l="0" t="9986" r="0" b="99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00200"/>
            <a:ext cx="4610100" cy="4610100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675c04ccd24520"/>
          <a:srcRect xmlns:a="http://schemas.openxmlformats.org/drawingml/2006/main" l="0" t="3317" r="0" b="33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4476750"/>
            <a:ext cx="1485900" cy="17335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2B085-8359-471B-976B-DCCCF352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CORAL DRIFT DRESS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974B2-3B16-43D3-AFA0-E6B6C260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43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00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DYN-081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D032B-4BC1-437E-9A1F-B4F78BD3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241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ORIGINAL BRAND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92461-FEC1-4AB4-9B20-C0C06DC7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051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Not recorded in current catalogue</a:t>
            </a:r>
          </a:p>
        </p:txBody>
      </p:sp>
      <p:sp>
        <p:nvSpPr>
          <p:cNvPr id="10" name="s4-line-286">
            <a:extLst xmlns:a="http://schemas.openxmlformats.org/drawingml/2006/main">
              <a:ext uri="{FF2B5EF4-FFF2-40B4-BE49-F238E27FC236}">
                <a16:creationId xmlns:a16="http://schemas.microsoft.com/office/drawing/2014/main" id="{9B268358-870E-41A0-A43C-6330AC24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A0FC1-3712-4324-8176-8E897B94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94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CONDITION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2F579-4F58-40A7-9C02-F76953B6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004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Excellent pre-loved</a:t>
            </a:r>
          </a:p>
        </p:txBody>
      </p:sp>
      <p:sp>
        <p:nvSpPr>
          <p:cNvPr id="13" name="s4-line-338">
            <a:extLst xmlns:a="http://schemas.openxmlformats.org/drawingml/2006/main">
              <a:ext uri="{FF2B5EF4-FFF2-40B4-BE49-F238E27FC236}">
                <a16:creationId xmlns:a16="http://schemas.microsoft.com/office/drawing/2014/main" id="{7E9D4512-AA8F-483B-9F72-C54755EF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052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B81DC-C2DE-429F-9EB7-33B546CF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147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TAGGED 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79259-762D-41A2-91DD-EDC2730F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UK 10</a:t>
            </a:r>
          </a:p>
        </p:txBody>
      </p:sp>
      <p:sp>
        <p:nvSpPr>
          <p:cNvPr id="16" name="s4-line-390">
            <a:extLst xmlns:a="http://schemas.openxmlformats.org/drawingml/2006/main">
              <a:ext uri="{FF2B5EF4-FFF2-40B4-BE49-F238E27FC236}">
                <a16:creationId xmlns:a16="http://schemas.microsoft.com/office/drawing/2014/main" id="{A3DB8E5C-E741-490C-BFDE-0E2DFBC0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005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FBA3E7-2473-4545-924C-2CEF86B3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100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MEASUREMENTS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C659F-F309-4E16-A2C0-4916F5A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910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Bust 88 cm · Waist 74 cm · Length 121 cm</a:t>
            </a:r>
          </a:p>
        </p:txBody>
      </p:sp>
      <p:sp>
        <p:nvSpPr>
          <p:cNvPr id="19" name="s4-line-442">
            <a:extLst xmlns:a="http://schemas.openxmlformats.org/drawingml/2006/main">
              <a:ext uri="{FF2B5EF4-FFF2-40B4-BE49-F238E27FC236}">
                <a16:creationId xmlns:a16="http://schemas.microsoft.com/office/drawing/2014/main" id="{9A62F2B2-4526-4085-A536-CF05B14B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958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A21A0-8553-48F5-B6A1-D8E379AF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053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PRICE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4EDEB2-25E8-4A0C-B2BD-ACF89A49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863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₦24,500</a:t>
            </a:r>
          </a:p>
        </p:txBody>
      </p:sp>
      <p:sp>
        <p:nvSpPr>
          <p:cNvPr id="22" name="s4-line-494">
            <a:extLst xmlns:a="http://schemas.openxmlformats.org/drawingml/2006/main">
              <a:ext uri="{FF2B5EF4-FFF2-40B4-BE49-F238E27FC236}">
                <a16:creationId xmlns:a16="http://schemas.microsoft.com/office/drawing/2014/main" id="{3E93663A-57EE-4F0E-903D-7295C00A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AC3DE-C85D-4F7E-B667-D03CF150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00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AVAILABILITY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25B8B2-99D7-4B52-BFC8-6A0B5F03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816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AVAILABLE · one piece</a:t>
            </a:r>
          </a:p>
        </p:txBody>
      </p:sp>
      <p:sp>
        <p:nvSpPr>
          <p:cNvPr id="25" name="s4-line-546">
            <a:extLst xmlns:a="http://schemas.openxmlformats.org/drawingml/2006/main">
              <a:ext uri="{FF2B5EF4-FFF2-40B4-BE49-F238E27FC236}">
                <a16:creationId xmlns:a16="http://schemas.microsoft.com/office/drawing/2014/main" id="{7AC09490-EF79-4B3E-9D1B-A7838800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4864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ral-tick-692-616">
            <a:extLst xmlns:a="http://schemas.openxmlformats.org/drawingml/2006/main">
              <a:ext uri="{FF2B5EF4-FFF2-40B4-BE49-F238E27FC236}">
                <a16:creationId xmlns:a16="http://schemas.microsoft.com/office/drawing/2014/main" id="{47E1353C-2F31-4798-9359-4C20D97B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67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C3BF1D-E883-4217-A323-1A6FC123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The missing original-brand value is shown honestly, never guessed.</a:t>
            </a:r>
          </a:p>
        </p:txBody>
      </p:sp>
      <p:sp>
        <p:nvSpPr>
          <p:cNvPr id="28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9285EF09-5E59-4A2B-950E-6B7699B2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156641-6953-4050-8A43-A5AA45C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FFA635-F24E-4263-B5A6-664EF5FB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78730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ccfcd4a9b428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5-editorial-column">
            <a:extLst xmlns:a="http://schemas.openxmlformats.org/drawingml/2006/main">
              <a:ext uri="{FF2B5EF4-FFF2-40B4-BE49-F238E27FC236}">
                <a16:creationId xmlns:a16="http://schemas.microsoft.com/office/drawing/2014/main" id="{56785CCD-B881-4403-A620-05138520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533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4bdec25334661"/>
          <a:stretch xmlns:a="http://schemas.openxmlformats.org/drawingml/2006/main"/>
        </p:blipFill>
        <p:spPr>
          <a:xfrm xmlns:a="http://schemas.openxmlformats.org/drawingml/2006/main" rot="420000">
            <a:off x="5638800" y="34861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FF067-9398-4774-A1BE-85EB04C2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CURATED, NOT MANUFACTURED</a:t>
            </a:r>
          </a:p>
        </p:txBody>
      </p:sp>
      <p:sp>
        <p:nvSpPr>
          <p:cNvPr id="5" name="coral-tick-64-98">
            <a:extLst xmlns:a="http://schemas.openxmlformats.org/drawingml/2006/main">
              <a:ext uri="{FF2B5EF4-FFF2-40B4-BE49-F238E27FC236}">
                <a16:creationId xmlns:a16="http://schemas.microsoft.com/office/drawing/2014/main" id="{C9953AF9-E4B4-4A2C-85E5-E50C1362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5-title">
            <a:extLst xmlns:a="http://schemas.openxmlformats.org/drawingml/2006/main">
              <a:ext uri="{FF2B5EF4-FFF2-40B4-BE49-F238E27FC236}">
                <a16:creationId xmlns:a16="http://schemas.microsoft.com/office/drawing/2014/main" id="{28959FC1-E1D8-46D8-9E53-41A8749B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35623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Removable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provenance.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Original label: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untouched.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D5E2C-06BA-4044-B233-92997F81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JU/W identifies the edit—</a:t>
            </a:r>
          </a:p>
          <a:p xmlns:a="http://schemas.openxmlformats.org/drawingml/2006/main">
            <a:pPr>
              <a:def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not the garment’s maker.</a:t>
            </a:r>
          </a:p>
        </p:txBody>
      </p:sp>
      <p:sp>
        <p:nvSpPr>
          <p:cNvPr id="8" name="s5-disclosure-back">
            <a:extLst xmlns:a="http://schemas.openxmlformats.org/drawingml/2006/main">
              <a:ext uri="{FF2B5EF4-FFF2-40B4-BE49-F238E27FC236}">
                <a16:creationId xmlns:a16="http://schemas.microsoft.com/office/drawing/2014/main" id="{92987617-ADE9-46C5-A141-D6F375D5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76900"/>
            <a:ext cx="3848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FD708-2E13-473C-9C90-D45C4751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BRAND APPLICATION CONCEPT</a:t>
            </a:r>
          </a:p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Generated visual · not documentary evidence</a:t>
            </a:r>
          </a:p>
        </p:txBody>
      </p:sp>
      <p:sp>
        <p:nvSpPr>
          <p:cNvPr id="10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3A39E7C5-41BE-4626-9151-62CE49B3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AC8F9-0575-4AB1-8F80-220DC55C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928FD-ADCB-4EF4-B858-4729F628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58358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f6b0aeec34e6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6-copy-back">
            <a:extLst xmlns:a="http://schemas.openxmlformats.org/drawingml/2006/main">
              <a:ext uri="{FF2B5EF4-FFF2-40B4-BE49-F238E27FC236}">
                <a16:creationId xmlns:a16="http://schemas.microsoft.com/office/drawing/2014/main" id="{A7C35946-5E47-4B63-8993-5CC97DA9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4350"/>
            <a:ext cx="3562350" cy="464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2BA30-CDF8-4050-B21A-6605D110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7810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BEHIND THE EDIT</a:t>
            </a:r>
          </a:p>
        </p:txBody>
      </p:sp>
      <p:sp>
        <p:nvSpPr>
          <p:cNvPr id="4" name="coral-tick-870-116">
            <a:extLst xmlns:a="http://schemas.openxmlformats.org/drawingml/2006/main">
              <a:ext uri="{FF2B5EF4-FFF2-40B4-BE49-F238E27FC236}">
                <a16:creationId xmlns:a16="http://schemas.microsoft.com/office/drawing/2014/main" id="{777C61B4-86FA-4746-B776-0771C035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6-title">
            <a:extLst xmlns:a="http://schemas.openxmlformats.org/drawingml/2006/main">
              <a:ext uri="{FF2B5EF4-FFF2-40B4-BE49-F238E27FC236}">
                <a16:creationId xmlns:a16="http://schemas.microsoft.com/office/drawing/2014/main" id="{E8EF1188-ADEE-417E-910E-E089CE5E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28750"/>
            <a:ext cx="3028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Evidence first.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F7B78-E2B5-4751-ADB6-2020DA90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65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Inspect. Measure. Record.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AB131-29CA-4A70-80A9-2A9FA6ED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623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5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Condition, fit and measurements make a one-off piece safer to choose at a distance.</a:t>
            </a:r>
          </a:p>
        </p:txBody>
      </p:sp>
      <p:sp>
        <p:nvSpPr>
          <p:cNvPr id="8" name="s6-disclosure-back">
            <a:extLst xmlns:a="http://schemas.openxmlformats.org/drawingml/2006/main">
              <a:ext uri="{FF2B5EF4-FFF2-40B4-BE49-F238E27FC236}">
                <a16:creationId xmlns:a16="http://schemas.microsoft.com/office/drawing/2014/main" id="{16A55931-0CEC-4104-A5C7-7E6AD5C2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91150"/>
            <a:ext cx="3562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CA48E-2B82-4BC3-9C63-0C718E87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6260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PROCESS CONCEPT · GENERATED VISUAL</a:t>
            </a:r>
          </a:p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Not documentary evidence</a:t>
            </a:r>
          </a:p>
        </p:txBody>
      </p:sp>
      <p:sp>
        <p:nvSpPr>
          <p:cNvPr id="10" name="s6-folio-back">
            <a:extLst xmlns:a="http://schemas.openxmlformats.org/drawingml/2006/main">
              <a:ext uri="{FF2B5EF4-FFF2-40B4-BE49-F238E27FC236}">
                <a16:creationId xmlns:a16="http://schemas.microsoft.com/office/drawing/2014/main" id="{A13A9738-6A44-43ED-BA87-487743B0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11A6623E-8D54-43A1-A4E5-950AD475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EFF0E9-FA99-433E-B9DF-FC6F8B96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3FEE3-25E9-489D-A591-A1820748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997880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abf10cb394163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e6cb34dbc4db1">
            <a:extLst>
              <a:ext uri="{96DAC541-7B7A-43D3-8B79-37D633B846F1}">
                <asvg:svgBlip xmlns:asvg="http://schemas.microsoft.com/office/drawing/2016/SVG/main" r:embed="Rf5cc7925c2d24a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 rot="-780000">
            <a:off x="2209800" y="2381250"/>
            <a:ext cx="2381250" cy="5429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88d38bfed4a87"/>
          <a:stretch xmlns:a="http://schemas.openxmlformats.org/drawingml/2006/main"/>
        </p:blipFill>
        <p:spPr>
          <a:xfrm xmlns:a="http://schemas.openxmlformats.org/drawingml/2006/main" rot="-780000">
            <a:off x="3105150" y="118110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3a79bacf024f87"/>
          <a:stretch xmlns:a="http://schemas.openxmlformats.org/drawingml/2006/main"/>
        </p:blipFill>
        <p:spPr>
          <a:xfrm xmlns:a="http://schemas.openxmlformats.org/drawingml/2006/main" rot="120000">
            <a:off x="4800600" y="527685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e299449204de1"/>
          <a:stretch xmlns:a="http://schemas.openxmlformats.org/drawingml/2006/main"/>
        </p:blipFill>
        <p:spPr>
          <a:xfrm xmlns:a="http://schemas.openxmlformats.org/drawingml/2006/main" rot="-120000">
            <a:off x="5905500" y="5105812"/>
            <a:ext cx="1581150" cy="361127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a604ecad5400f"/>
          <a:stretch xmlns:a="http://schemas.openxmlformats.org/drawingml/2006/main"/>
        </p:blipFill>
        <p:spPr>
          <a:xfrm xmlns:a="http://schemas.openxmlformats.org/drawingml/2006/main">
            <a:off x="8172450" y="593784"/>
            <a:ext cx="2724150" cy="6221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716FC-2CC3-49C9-B3EE-CA1F6D46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PACKED BY LULU</a:t>
            </a:r>
          </a:p>
        </p:txBody>
      </p:sp>
      <p:sp>
        <p:nvSpPr>
          <p:cNvPr id="8" name="coral-tick-858-204">
            <a:extLst xmlns:a="http://schemas.openxmlformats.org/drawingml/2006/main">
              <a:ext uri="{FF2B5EF4-FFF2-40B4-BE49-F238E27FC236}">
                <a16:creationId xmlns:a16="http://schemas.microsoft.com/office/drawing/2014/main" id="{1F60B2F6-4E71-4E94-AF27-C9D70DC1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43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7-title">
            <a:extLst xmlns:a="http://schemas.openxmlformats.org/drawingml/2006/main">
              <a:ext uri="{FF2B5EF4-FFF2-40B4-BE49-F238E27FC236}">
                <a16:creationId xmlns:a16="http://schemas.microsoft.com/office/drawing/2014/main" id="{7EAF3398-C029-424C-B013-1558B550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314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One piece.</a:t>
            </a:r>
          </a:p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Packed with care.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CB2ED-1608-4FC5-95EC-E8CF020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Mailer · warm-paper tissue · JU/W seal</a:t>
            </a:r>
          </a:p>
          <a:p xmlns:a="http://schemas.openxmlformats.org/drawingml/2006/main">
            <a:pPr>
              <a:def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Wordmark thank-you · order + condition card</a:t>
            </a:r>
          </a:p>
        </p:txBody>
      </p:sp>
      <p:sp>
        <p:nvSpPr>
          <p:cNvPr id="11" name="s7-disclosure-back">
            <a:extLst xmlns:a="http://schemas.openxmlformats.org/drawingml/2006/main">
              <a:ext uri="{FF2B5EF4-FFF2-40B4-BE49-F238E27FC236}">
                <a16:creationId xmlns:a16="http://schemas.microsoft.com/office/drawing/2014/main" id="{1FAFD309-2854-4982-9FD0-532312E6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7150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C4D0B-F825-4246-B0FD-9F1C031E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886450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PACKAGING CONCEPT · GENERATED</a:t>
            </a:r>
          </a:p>
        </p:txBody>
      </p:sp>
      <p:sp>
        <p:nvSpPr>
          <p:cNvPr id="13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E5775666-6487-466D-883C-528F42B3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92E6F-4739-4A40-A067-E9A8CF94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5B53A-B47B-4964-AB95-BF0C2DA4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39478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39C0F-0866-4175-B6A4-BE36619A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DIGITAL DISCOVERY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31195183-A3CE-43F5-9093-CE5DD2EC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The identity holds at every screen size.</a:t>
            </a:r>
          </a:p>
        </p:txBody>
      </p:sp>
      <p:sp>
        <p:nvSpPr>
          <p:cNvPr id="3" name="coral-tick-64-136">
            <a:extLst xmlns:a="http://schemas.openxmlformats.org/drawingml/2006/main">
              <a:ext uri="{FF2B5EF4-FFF2-40B4-BE49-F238E27FC236}">
                <a16:creationId xmlns:a16="http://schemas.microsoft.com/office/drawing/2014/main" id="{6736149D-B055-4F1E-859B-E6F3AE3B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8-desktop-bezel">
            <a:extLst xmlns:a="http://schemas.openxmlformats.org/drawingml/2006/main">
              <a:ext uri="{FF2B5EF4-FFF2-40B4-BE49-F238E27FC236}">
                <a16:creationId xmlns:a16="http://schemas.microsoft.com/office/drawing/2014/main" id="{8378014E-B901-4DCA-ADF0-85B18C16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496300" cy="41719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60a8584abb4887"/>
          <a:srcRect xmlns:a="http://schemas.openxmlformats.org/drawingml/2006/main" l="0" t="9119" r="0" b="91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" y="1847850"/>
            <a:ext cx="8077200" cy="37147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6" name="s8-desktop-foot">
            <a:extLst xmlns:a="http://schemas.openxmlformats.org/drawingml/2006/main">
              <a:ext uri="{FF2B5EF4-FFF2-40B4-BE49-F238E27FC236}">
                <a16:creationId xmlns:a16="http://schemas.microsoft.com/office/drawing/2014/main" id="{403F5B4C-D803-4FA7-B6CD-2E1B2478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810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A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8-mobile-bezel">
            <a:extLst xmlns:a="http://schemas.openxmlformats.org/drawingml/2006/main">
              <a:ext uri="{FF2B5EF4-FFF2-40B4-BE49-F238E27FC236}">
                <a16:creationId xmlns:a16="http://schemas.microsoft.com/office/drawing/2014/main" id="{983C78F4-A7E2-487D-B856-8C89CDC9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428750"/>
            <a:ext cx="2114550" cy="41719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9fb2e787749e7"/>
          <a:srcRect xmlns:a="http://schemas.openxmlformats.org/drawingml/2006/main" l="0" t="2128" r="0" b="21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9300" y="1638300"/>
            <a:ext cx="1809750" cy="3752850"/>
          </a:xfrm>
          <a:prstGeom xmlns:a="http://schemas.openxmlformats.org/drawingml/2006/main" prst="roundRect">
            <a:avLst>
              <a:gd name="adj" fmla="val 8421"/>
            </a:avLst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798c5fdc94b95"/>
          <a:stretch xmlns:a="http://schemas.openxmlformats.org/drawingml/2006/main"/>
        </p:blipFill>
        <p:spPr>
          <a:xfrm xmlns:a="http://schemas.openxmlformats.org/drawingml/2006/main">
            <a:off x="9696450" y="57340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13ABF-2148-4C93-AEAC-582CB929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61531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PWA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08cf432b44ffc"/>
          <a:stretch xmlns:a="http://schemas.openxmlformats.org/drawingml/2006/main"/>
        </p:blipFill>
        <p:spPr>
          <a:xfrm xmlns:a="http://schemas.openxmlformats.org/drawingml/2006/main">
            <a:off x="10744200" y="577215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F889B-810C-4685-83AE-0552051C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61531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TAB</a:t>
            </a:r>
          </a:p>
        </p:txBody>
      </p:sp>
      <p:sp>
        <p:nvSpPr>
          <p:cNvPr id="13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4FB50320-90F4-4014-9177-D652C55F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12049-E9BF-4702-8A03-7A5DB5DD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9FF09-01D7-47A7-8731-609F01ED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348487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EE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669A8A-66C8-44B4-A4ED-6C32041B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SOCIAL AND WHATSAPP COMMERCE</a:t>
            </a:r>
          </a:p>
        </p:txBody>
      </p:sp>
      <p:sp>
        <p:nvSpPr>
          <p:cNvPr id="2" name="s9-title">
            <a:extLst xmlns:a="http://schemas.openxmlformats.org/drawingml/2006/main">
              <a:ext uri="{FF2B5EF4-FFF2-40B4-BE49-F238E27FC236}">
                <a16:creationId xmlns:a16="http://schemas.microsoft.com/office/drawing/2014/main" id="{A259515C-A438-47E6-B8F9-D4FBBC40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Discovery stays human through the handoff.</a:t>
            </a:r>
          </a:p>
        </p:txBody>
      </p:sp>
      <p:sp>
        <p:nvSpPr>
          <p:cNvPr id="3" name="coral-tick-64-136">
            <a:extLst xmlns:a="http://schemas.openxmlformats.org/drawingml/2006/main">
              <a:ext uri="{FF2B5EF4-FFF2-40B4-BE49-F238E27FC236}">
                <a16:creationId xmlns:a16="http://schemas.microsoft.com/office/drawing/2014/main" id="{1B645B1F-8942-4C49-B148-BF8046AC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9-story-a">
            <a:extLst xmlns:a="http://schemas.openxmlformats.org/drawingml/2006/main">
              <a:ext uri="{FF2B5EF4-FFF2-40B4-BE49-F238E27FC236}">
                <a16:creationId xmlns:a16="http://schemas.microsoft.com/office/drawing/2014/main" id="{B3DFC2D3-A45A-43A8-9D11-ECBE57C5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809750" cy="39052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f002666d2477a"/>
          <a:srcRect xmlns:a="http://schemas.openxmlformats.org/drawingml/2006/main" l="7611" t="0" r="76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771650"/>
            <a:ext cx="1619250" cy="3181350"/>
          </a:xfrm>
          <a:prstGeom xmlns:a="http://schemas.openxmlformats.org/drawingml/2006/main" prst="roundRect">
            <a:avLst>
              <a:gd name="adj" fmla="val 9412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28c46a0554321"/>
          <a:stretch xmlns:a="http://schemas.openxmlformats.org/drawingml/2006/main"/>
        </p:blipFill>
        <p:spPr>
          <a:xfrm xmlns:a="http://schemas.openxmlformats.org/drawingml/2006/main">
            <a:off x="847210" y="5105400"/>
            <a:ext cx="1334530" cy="304800"/>
          </a:xfrm>
          <a:prstGeom xmlns:a="http://schemas.openxmlformats.org/drawingml/2006/main" prst="rect">
            <a:avLst/>
          </a:prstGeom>
        </p:spPr>
      </p:pic>
      <p:sp>
        <p:nvSpPr>
          <p:cNvPr id="7" name="s9-story-b">
            <a:extLst xmlns:a="http://schemas.openxmlformats.org/drawingml/2006/main">
              <a:ext uri="{FF2B5EF4-FFF2-40B4-BE49-F238E27FC236}">
                <a16:creationId xmlns:a16="http://schemas.microsoft.com/office/drawing/2014/main" id="{0BEFAF1A-80CB-47DC-ACB9-364C5624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76400"/>
            <a:ext cx="1809750" cy="39052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a55d64b04996"/>
          <a:srcRect xmlns:a="http://schemas.openxmlformats.org/drawingml/2006/main" l="18200" t="0" r="182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86050" y="1771650"/>
            <a:ext cx="1619250" cy="3181350"/>
          </a:xfrm>
          <a:prstGeom xmlns:a="http://schemas.openxmlformats.org/drawingml/2006/main" prst="roundRect">
            <a:avLst>
              <a:gd name="adj" fmla="val 941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22B71-7CE3-4F3A-A7F6-CF8B2056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43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DYN-081 · ONE PIECE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06948-5999-44D7-8289-53434963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3790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SOCIAL APPLICATION CONCEPT</a:t>
            </a:r>
          </a:p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Actual approved product media</a:t>
            </a:r>
          </a:p>
        </p:txBody>
      </p:sp>
      <p:sp>
        <p:nvSpPr>
          <p:cNvPr id="11" name="s9-checkout-bezel">
            <a:extLst xmlns:a="http://schemas.openxmlformats.org/drawingml/2006/main">
              <a:ext uri="{FF2B5EF4-FFF2-40B4-BE49-F238E27FC236}">
                <a16:creationId xmlns:a16="http://schemas.microsoft.com/office/drawing/2014/main" id="{9ABE2B16-2A85-470D-A1BA-47F7EFB8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76400"/>
            <a:ext cx="6686550" cy="3905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c7e4d8b914ca3"/>
          <a:srcRect xmlns:a="http://schemas.openxmlformats.org/drawingml/2006/main" l="17" t="0" r="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1828800"/>
            <a:ext cx="6381750" cy="3590925"/>
          </a:xfrm>
          <a:prstGeom xmlns:a="http://schemas.openxmlformats.org/drawingml/2006/main" prst="roundRect">
            <a:avLst>
              <a:gd name="adj" fmla="val 4244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5AE8E-E136-49F6-BA74-38B2BE69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753100"/>
            <a:ext cx="668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LIVE MANUAL HANDOFF · browser-saved checkout → WhatsApp review and send</a:t>
            </a:r>
          </a:p>
        </p:txBody>
      </p:sp>
      <p:sp>
        <p:nvSpPr>
          <p:cNvPr id="14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6547309E-D59B-4CA6-8071-2102FFB1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E81F3-F82F-421D-BCDC-40D98AB4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CEB3B-E9CB-4454-95B4-41EC1263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242209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A17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3c5085ede422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11438-C5FF-4ED2-A10A-402883E3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LAGOS HANDOFF</a:t>
            </a:r>
          </a:p>
        </p:txBody>
      </p:sp>
      <p:sp>
        <p:nvSpPr>
          <p:cNvPr id="3" name="coral-tick-64-110">
            <a:extLst xmlns:a="http://schemas.openxmlformats.org/drawingml/2006/main">
              <a:ext uri="{FF2B5EF4-FFF2-40B4-BE49-F238E27FC236}">
                <a16:creationId xmlns:a16="http://schemas.microsoft.com/office/drawing/2014/main" id="{C01D9519-5E6C-490F-954D-5165475F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10-title">
            <a:extLst xmlns:a="http://schemas.openxmlformats.org/drawingml/2006/main">
              <a:ext uri="{FF2B5EF4-FFF2-40B4-BE49-F238E27FC236}">
                <a16:creationId xmlns:a16="http://schemas.microsoft.com/office/drawing/2014/main" id="{F0B094DD-4686-45AA-B65F-3BB64C73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3810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405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One piece,</a:t>
            </a:r>
          </a:p>
          <a:p xmlns:a="http://schemas.openxmlformats.org/drawingml/2006/main">
            <a:pPr algn="l">
              <a:defRPr sz="405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405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back in motion.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AE6C1-C4EA-4AB3-81BC-5E16E82F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rPr>
              <a:t>Studio pickup after payment, by appointment.</a:t>
            </a:r>
          </a:p>
          <a:p xmlns:a="http://schemas.openxmlformats.org/drawingml/2006/main">
            <a:pPr>
              <a:def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rPr>
              <a:t>Lagos delivery in 1–3 working days.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5C69B-569E-4C2F-B960-0BA007B6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rPr>
              <a:t>HANDOFF CONCEPT · GENERATED VISUAL</a:t>
            </a:r>
          </a:p>
          <a:p xmlns:a="http://schemas.openxmlformats.org/drawingml/2006/main">
            <a:pPr>
              <a:def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rPr>
              <a:t>Operational options are real; the pictured moment is not documentary.</a:t>
            </a:r>
          </a:p>
        </p:txBody>
      </p:sp>
      <p:sp>
        <p:nvSpPr>
          <p:cNvPr id="7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7F9EEE90-CDE3-4476-AAC1-5B755C06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39B3B-5EA8-40A2-A4FD-F9E12285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98A76D-9836-4F7C-8918-9FAD6496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11426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A17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31ee316dc459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ED83F-56B8-410B-94AD-84DC4379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FUTURE CAMPAIGN CONCEPT</a:t>
            </a:r>
          </a:p>
        </p:txBody>
      </p:sp>
      <p:sp>
        <p:nvSpPr>
          <p:cNvPr id="3" name="coral-tick-64-102">
            <a:extLst xmlns:a="http://schemas.openxmlformats.org/drawingml/2006/main">
              <a:ext uri="{FF2B5EF4-FFF2-40B4-BE49-F238E27FC236}">
                <a16:creationId xmlns:a16="http://schemas.microsoft.com/office/drawing/2014/main" id="{C481785C-CC3F-4459-AAB6-A943FC55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11-title">
            <a:extLst xmlns:a="http://schemas.openxmlformats.org/drawingml/2006/main">
              <a:ext uri="{FF2B5EF4-FFF2-40B4-BE49-F238E27FC236}">
                <a16:creationId xmlns:a16="http://schemas.microsoft.com/office/drawing/2014/main" id="{32E2394A-65AC-4BB1-8F71-57746F1A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371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Clothes with</a:t>
            </a:r>
          </a:p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a second first</a:t>
            </a:r>
          </a:p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impression.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824EA-2437-4563-8E73-F84427CB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33718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2DAD4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2DAD4"/>
                </a:solidFill>
                <a:latin typeface="Avenir Next"/>
                <a:ea typeface="Avenir Next"/>
                <a:cs typeface="Avenir Next"/>
              </a:rPr>
              <a:t>One-off urban womenswear from Lulu’s wardrobe, ready to move through the city.</a:t>
            </a:r>
          </a:p>
        </p:txBody>
      </p:sp>
      <p:sp>
        <p:nvSpPr>
          <p:cNvPr id="6" name="s11-poster-surface">
            <a:extLst xmlns:a="http://schemas.openxmlformats.org/drawingml/2006/main">
              <a:ext uri="{FF2B5EF4-FFF2-40B4-BE49-F238E27FC236}">
                <a16:creationId xmlns:a16="http://schemas.microsoft.com/office/drawing/2014/main" id="{19E32C7C-6BD5-4708-8615-20E5780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0550"/>
            <a:ext cx="342900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a33275b634339"/>
          <a:stretch xmlns:a="http://schemas.openxmlformats.org/drawingml/2006/main"/>
        </p:blipFill>
        <p:spPr>
          <a:xfrm xmlns:a="http://schemas.openxmlformats.org/drawingml/2006/main">
            <a:off x="7010400" y="841375"/>
            <a:ext cx="2057400" cy="4699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2e03f36f347cb"/>
          <a:srcRect xmlns:a="http://schemas.openxmlformats.org/drawingml/2006/main" l="0" t="6163" r="0" b="61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19950" y="1504950"/>
            <a:ext cx="2400300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9D497-01FA-4DAD-866E-A0A5CD7C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57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DROP 01 · LAGOS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E054D-33FF-47AD-BCD5-A63B2714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562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DYN-081 · ONE PIECE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BC580-63A7-4115-9569-5E097081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2674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FUTURE CAMPAIGN CONCEPT</a:t>
            </a:r>
          </a:p>
        </p:txBody>
      </p:sp>
      <p:sp>
        <p:nvSpPr>
          <p:cNvPr id="12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09B435B9-52C9-4ACC-AE66-064BCEE0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72045-F600-4C98-890B-A3B799F7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4A929-2403-4047-81DF-84B1F9CC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290410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2026-08-11T12:31:59.3850000Z</dcterms:created>
  <dcterms:modified xsi:type="dcterms:W3CDTF">2026-08-11T12:31:59.3850000Z</dcterms:modified>
</coreProperties>
</file>