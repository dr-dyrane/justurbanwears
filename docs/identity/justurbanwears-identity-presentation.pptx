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bin" ContentType="image/webp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459e8599cb4676" /><Relationship Type="http://schemas.openxmlformats.org/officeDocument/2006/relationships/extended-properties" Target="/docProps/app.xml" Id="R45ae4c3ebf864511" /><Relationship Type="http://schemas.openxmlformats.org/officeDocument/2006/relationships/officeDocument" Target="/ppt/presentation.xml" Id="R978d95d30373438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c0b40645ce4648"/>
  </p:sldMasterIdLst>
  <p:sldIdLst>
    <p:sldId xmlns:r="http://schemas.openxmlformats.org/officeDocument/2006/relationships" id="256" r:id="Rbfe8361ce32740ff"/>
    <p:sldId xmlns:r="http://schemas.openxmlformats.org/officeDocument/2006/relationships" id="257" r:id="R270d6527ca334b51"/>
    <p:sldId xmlns:r="http://schemas.openxmlformats.org/officeDocument/2006/relationships" id="258" r:id="Rcbdeef85c915451f"/>
    <p:sldId xmlns:r="http://schemas.openxmlformats.org/officeDocument/2006/relationships" id="259" r:id="Rae836258033b4849"/>
    <p:sldId xmlns:r="http://schemas.openxmlformats.org/officeDocument/2006/relationships" id="260" r:id="Rdf1c577d6e624ec1"/>
    <p:sldId xmlns:r="http://schemas.openxmlformats.org/officeDocument/2006/relationships" id="261" r:id="Ra4e78461ae6f4e56"/>
    <p:sldId xmlns:r="http://schemas.openxmlformats.org/officeDocument/2006/relationships" id="262" r:id="R9ab343dc4cde4aa7"/>
    <p:sldId xmlns:r="http://schemas.openxmlformats.org/officeDocument/2006/relationships" id="263" r:id="Rcd1005e4f6bb4edd"/>
    <p:sldId xmlns:r="http://schemas.openxmlformats.org/officeDocument/2006/relationships" id="264" r:id="Re769e75cbd6a4257"/>
    <p:sldId xmlns:r="http://schemas.openxmlformats.org/officeDocument/2006/relationships" id="265" r:id="R40b1ad4390904789"/>
    <p:sldId xmlns:r="http://schemas.openxmlformats.org/officeDocument/2006/relationships" id="266" r:id="R3520e48bcbe3437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11fdac20284f44" /><Relationship Type="http://schemas.openxmlformats.org/officeDocument/2006/relationships/slideMaster" Target="/ppt/slideMasters/slideMaster1.xml" Id="Rc2c0b40645ce4648" /><Relationship Type="http://schemas.openxmlformats.org/officeDocument/2006/relationships/presProps" Target="/ppt/presProps.xml" Id="R6586f7517fe04fd0" /><Relationship Type="http://schemas.openxmlformats.org/officeDocument/2006/relationships/tableStyles" Target="/ppt/tableStyles.xml" Id="Rd8f94ddadb4946f2" /><Relationship Type="http://schemas.openxmlformats.org/officeDocument/2006/relationships/slide" Target="/ppt/slides/slide1.xml" Id="Rbfe8361ce32740ff" /><Relationship Type="http://schemas.openxmlformats.org/officeDocument/2006/relationships/slide" Target="/ppt/slides/slide2.xml" Id="R270d6527ca334b51" /><Relationship Type="http://schemas.openxmlformats.org/officeDocument/2006/relationships/slide" Target="/ppt/slides/slide3.xml" Id="Rcbdeef85c915451f" /><Relationship Type="http://schemas.openxmlformats.org/officeDocument/2006/relationships/slide" Target="/ppt/slides/slide4.xml" Id="Rae836258033b4849" /><Relationship Type="http://schemas.openxmlformats.org/officeDocument/2006/relationships/slide" Target="/ppt/slides/slide5.xml" Id="Rdf1c577d6e624ec1" /><Relationship Type="http://schemas.openxmlformats.org/officeDocument/2006/relationships/slide" Target="/ppt/slides/slide6.xml" Id="Ra4e78461ae6f4e56" /><Relationship Type="http://schemas.openxmlformats.org/officeDocument/2006/relationships/slide" Target="/ppt/slides/slide7.xml" Id="R9ab343dc4cde4aa7" /><Relationship Type="http://schemas.openxmlformats.org/officeDocument/2006/relationships/slide" Target="/ppt/slides/slide8.xml" Id="Rcd1005e4f6bb4edd" /><Relationship Type="http://schemas.openxmlformats.org/officeDocument/2006/relationships/slide" Target="/ppt/slides/slide9.xml" Id="Re769e75cbd6a4257" /><Relationship Type="http://schemas.openxmlformats.org/officeDocument/2006/relationships/slide" Target="/ppt/slides/slide10.xml" Id="R40b1ad4390904789" /><Relationship Type="http://schemas.openxmlformats.org/officeDocument/2006/relationships/slide" Target="/ppt/slides/slide11.xml" Id="R3520e48bcbe3437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414d0bbeab4a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f4b8ffd36a4b60" /><Relationship Type="http://schemas.openxmlformats.org/officeDocument/2006/relationships/slideLayout" Target="/ppt/slideLayouts/slideLayout1.xml" Id="Rfbc90f1ac1b44d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c90f1ac1b44d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b48b5a15c4371" /><Relationship Type="http://schemas.openxmlformats.org/officeDocument/2006/relationships/image" Target="/ppt/media/image.png" Id="R7fb4e1589b9046a9" /><Relationship Type="http://schemas.openxmlformats.org/officeDocument/2006/relationships/image" Target="/ppt/media/image2.png" Id="R632a23519c9f45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76916b16d4598" /><Relationship Type="http://schemas.openxmlformats.org/officeDocument/2006/relationships/image" Target="/ppt/media/image3.png" Id="Rb780a0c8504a4d2e" /><Relationship Type="http://schemas.openxmlformats.org/officeDocument/2006/relationships/image" Target="/ppt/media/image4.png" Id="R23d4fa1544a44fd0" /><Relationship Type="http://schemas.openxmlformats.org/officeDocument/2006/relationships/image" Target="/ppt/media/image5.png" Id="R65b82c5c98c3436d" /><Relationship Type="http://schemas.openxmlformats.org/officeDocument/2006/relationships/image" Target="/ppt/media/image6.png" Id="R9e34cf90985a4e37" /><Relationship Type="http://schemas.openxmlformats.org/officeDocument/2006/relationships/image" Target="/ppt/media/image7.png" Id="R54eddacf1f5247de" /><Relationship Type="http://schemas.openxmlformats.org/officeDocument/2006/relationships/image" Target="/ppt/media/image8.png" Id="R8401646e9cd14611" /><Relationship Type="http://schemas.openxmlformats.org/officeDocument/2006/relationships/image" Target="/ppt/media/image9.png" Id="Rfd6bd51b2a3d4148" /><Relationship Type="http://schemas.openxmlformats.org/officeDocument/2006/relationships/image" Target="/ppt/media/image10.png" Id="R66aa47f8fbee4c7f" /><Relationship Type="http://schemas.openxmlformats.org/officeDocument/2006/relationships/image" Target="/ppt/media/image11.png" Id="R7a853645b6664853" /><Relationship Type="http://schemas.openxmlformats.org/officeDocument/2006/relationships/image" Target="/ppt/media/image12.png" Id="R6d75a0418a5e460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c1fe711cbb482e" /><Relationship Type="http://schemas.openxmlformats.org/officeDocument/2006/relationships/image" Target="/ppt/media/image13.png" Id="R5984608197954e99" /><Relationship Type="http://schemas.openxmlformats.org/officeDocument/2006/relationships/image" Target="/ppt/media/image14.png" Id="Rf102c0c243d54c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d61ffb8c14eb9" /><Relationship Type="http://schemas.openxmlformats.org/officeDocument/2006/relationships/image" Target="/ppt/media/image.bin" Id="R6311245500024b22" /><Relationship Type="http://schemas.openxmlformats.org/officeDocument/2006/relationships/image" Target="/ppt/media/image2.bin" Id="Rbe8b3fa1206f4c0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0a662bd34497b" /><Relationship Type="http://schemas.openxmlformats.org/officeDocument/2006/relationships/image" Target="/ppt/media/image15.png" Id="Rf442f77640b6458c" /><Relationship Type="http://schemas.openxmlformats.org/officeDocument/2006/relationships/image" Target="/ppt/media/image16.png" Id="Ra7f9d8b9641c4ac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bb5d0d3f94dff" /><Relationship Type="http://schemas.openxmlformats.org/officeDocument/2006/relationships/image" Target="/ppt/media/image17.png" Id="R46d678e488eb4a6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47e96ad5d446e" /><Relationship Type="http://schemas.openxmlformats.org/officeDocument/2006/relationships/image" Target="/ppt/media/image18.png" Id="Raa34500f245d4284" /><Relationship Type="http://schemas.openxmlformats.org/officeDocument/2006/relationships/image" Target="/ppt/media/image19.png" Id="R5cf9746531f94cb1" /><Relationship Type="http://schemas.openxmlformats.org/officeDocument/2006/relationships/image" Target="/ppt/media/image20.png" Id="R8896bbd053c74ed3" /><Relationship Type="http://schemas.openxmlformats.org/officeDocument/2006/relationships/image" Target="/ppt/media/image21.png" Id="R6857d5370dd3448a" /><Relationship Type="http://schemas.openxmlformats.org/officeDocument/2006/relationships/image" Target="/ppt/media/image22.png" Id="R7de29741f1e849fe" /><Relationship Type="http://schemas.openxmlformats.org/officeDocument/2006/relationships/image" Target="/ppt/media/image23.png" Id="Rd6129d0d16b442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04f4c98fc4775" /><Relationship Type="http://schemas.openxmlformats.org/officeDocument/2006/relationships/image" Target="/ppt/media/image.jpeg" Id="R0419f26ccb6348d9" /><Relationship Type="http://schemas.openxmlformats.org/officeDocument/2006/relationships/image" Target="/ppt/media/image24.png" Id="Rb9a72e336f1145ee" /><Relationship Type="http://schemas.openxmlformats.org/officeDocument/2006/relationships/image" Target="/ppt/media/image25.png" Id="R4607f9e01215425d" /><Relationship Type="http://schemas.openxmlformats.org/officeDocument/2006/relationships/image" Target="/ppt/media/image26.png" Id="R082c84a9e871412e" /><Relationship Type="http://schemas.openxmlformats.org/officeDocument/2006/relationships/image" Target="/ppt/media/image27.png" Id="Rb78ebc5f229147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6e57b9b8a4f0c" /><Relationship Type="http://schemas.openxmlformats.org/officeDocument/2006/relationships/image" Target="/ppt/media/image28.png" Id="Recbc93d8f7864485" /><Relationship Type="http://schemas.openxmlformats.org/officeDocument/2006/relationships/image" Target="/ppt/media/image29.png" Id="Rfa2c3b3c784b46c8" /><Relationship Type="http://schemas.openxmlformats.org/officeDocument/2006/relationships/image" Target="/ppt/media/image3.bin" Id="Ra570780545fd41cc" /><Relationship Type="http://schemas.openxmlformats.org/officeDocument/2006/relationships/image" Target="/ppt/media/image2.jpeg" Id="R6435fa58395b455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0d96b7098942ee" /><Relationship Type="http://schemas.openxmlformats.org/officeDocument/2006/relationships/image" Target="/ppt/media/image30.png" Id="R495e33bbf8774b6c" /><Relationship Type="http://schemas.openxmlformats.org/officeDocument/2006/relationships/image" Target="/ppt/media/image31.png" Id="R21f82edfcbef42a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708b8eae91436d" /><Relationship Type="http://schemas.openxmlformats.org/officeDocument/2006/relationships/image" Target="/ppt/media/image32.png" Id="R9dac7cca712b4b0c" /><Relationship Type="http://schemas.openxmlformats.org/officeDocument/2006/relationships/image" Target="/ppt/media/image33.png" Id="Rf710603f8c5547f6" /><Relationship Type="http://schemas.openxmlformats.org/officeDocument/2006/relationships/image" Target="/ppt/media/image34.png" Id="R47162bfd5ccc4d6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b4e1589b9046a9"/>
          <a:stretch xmlns:a="http://schemas.openxmlformats.org/drawingml/2006/main"/>
        </p:blipFill>
        <p:spPr>
          <a:xfrm xmlns:a="http://schemas.openxmlformats.org/drawingml/2006/main">
            <a:off x="3943350" y="537045"/>
            <a:ext cx="4305300" cy="983309"/>
          </a:xfrm>
          <a:prstGeom xmlns:a="http://schemas.openxmlformats.org/drawingml/2006/main" prst="rect">
            <a:avLst/>
          </a:prstGeom>
        </p:spPr>
      </p:pic>
      <p:sp>
        <p:nvSpPr>
          <p:cNvPr id="2" name="coral-tick-626-190">
            <a:extLst xmlns:a="http://schemas.openxmlformats.org/drawingml/2006/main">
              <a:ext uri="{FF2B5EF4-FFF2-40B4-BE49-F238E27FC236}">
                <a16:creationId xmlns:a16="http://schemas.microsoft.com/office/drawing/2014/main" id="{21613005-A2FC-48E9-90FF-AB2937A7F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09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1-title">
            <a:extLst xmlns:a="http://schemas.openxmlformats.org/drawingml/2006/main">
              <a:ext uri="{FF2B5EF4-FFF2-40B4-BE49-F238E27FC236}">
                <a16:creationId xmlns:a16="http://schemas.microsoft.com/office/drawing/2014/main" id="{FF7A4D8C-3C82-47AC-978D-5412CFB3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38350"/>
            <a:ext cx="9144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46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Clothes with a</a:t>
            </a:r>
          </a:p>
          <a:p xmlns:a="http://schemas.openxmlformats.org/drawingml/2006/main">
            <a:pPr algn="ctr">
              <a:defRPr sz="46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46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second first impression.</a:t>
            </a:r>
          </a:p>
        </p:txBody>
      </p:sp>
      <p:sp>
        <p:nvSpPr>
          <p:cNvPr id="4" name="s1-descriptor">
            <a:extLst xmlns:a="http://schemas.openxmlformats.org/drawingml/2006/main">
              <a:ext uri="{FF2B5EF4-FFF2-40B4-BE49-F238E27FC236}">
                <a16:creationId xmlns:a16="http://schemas.microsoft.com/office/drawing/2014/main" id="{983DF277-D3D4-496D-B1AE-4BB6DE04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725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One-off urban womenswear from Lulu’s wardrobe, ready to move through the city.</a:t>
            </a:r>
          </a:p>
        </p:txBody>
      </p:sp>
      <p:sp>
        <p:nvSpPr>
          <p:cNvPr id="5" name="s1-icon-field">
            <a:extLst xmlns:a="http://schemas.openxmlformats.org/drawingml/2006/main">
              <a:ext uri="{FF2B5EF4-FFF2-40B4-BE49-F238E27FC236}">
                <a16:creationId xmlns:a16="http://schemas.microsoft.com/office/drawing/2014/main" id="{2509060C-B461-4473-82EE-3F1DB937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81550"/>
            <a:ext cx="10668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2a23519c9f4579"/>
          <a:stretch xmlns:a="http://schemas.openxmlformats.org/drawingml/2006/main"/>
        </p:blipFill>
        <p:spPr>
          <a:xfrm xmlns:a="http://schemas.openxmlformats.org/drawingml/2006/main">
            <a:off x="5829300" y="5048250"/>
            <a:ext cx="533400" cy="5334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C2BBC1-B346-4FCB-8FBE-471C3F818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905500"/>
            <a:ext cx="487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FULL NAME FOR THE BRAND · JU/W FOR SMALL SPACES</a:t>
            </a:r>
          </a:p>
        </p:txBody>
      </p:sp>
      <p:sp>
        <p:nvSpPr>
          <p:cNvPr id="8" name="s1-cocoa-swatch">
            <a:extLst xmlns:a="http://schemas.openxmlformats.org/drawingml/2006/main">
              <a:ext uri="{FF2B5EF4-FFF2-40B4-BE49-F238E27FC236}">
                <a16:creationId xmlns:a16="http://schemas.microsoft.com/office/drawing/2014/main" id="{1C4955E2-7B19-4917-A1EE-0FDF71CF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229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17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DAE27C-54DE-4FB5-830B-B7EC670C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1722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Cocoa</a:t>
            </a:r>
          </a:p>
        </p:txBody>
      </p:sp>
      <p:sp>
        <p:nvSpPr>
          <p:cNvPr id="10" name="s1-coral-swatch">
            <a:extLst xmlns:a="http://schemas.openxmlformats.org/drawingml/2006/main">
              <a:ext uri="{FF2B5EF4-FFF2-40B4-BE49-F238E27FC236}">
                <a16:creationId xmlns:a16="http://schemas.microsoft.com/office/drawing/2014/main" id="{BEA7D278-A310-41B7-8F19-F2D2DE6E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6229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1C823-B07A-49A6-86FB-A289AA3E9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1722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Coral</a:t>
            </a:r>
          </a:p>
        </p:txBody>
      </p:sp>
      <p:sp>
        <p:nvSpPr>
          <p:cNvPr id="12" name="s1-paper-swatch">
            <a:extLst xmlns:a="http://schemas.openxmlformats.org/drawingml/2006/main">
              <a:ext uri="{FF2B5EF4-FFF2-40B4-BE49-F238E27FC236}">
                <a16:creationId xmlns:a16="http://schemas.microsoft.com/office/drawing/2014/main" id="{E86B9F92-A2C8-4A5B-9B66-535C500C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229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A1CD1E-108A-4C5C-917D-B05D2353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6172200"/>
            <a:ext cx="203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Warm paper</a:t>
            </a:r>
          </a:p>
        </p:txBody>
      </p:sp>
      <p:sp>
        <p:nvSpPr>
          <p:cNvPr id="14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5907005A-4374-4CA3-8083-36D95F70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9933E0-C8EA-4A7E-997E-E080973B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C95F43-3C53-4570-9D37-A41C70A27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47713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21A57BF-FFD7-41C5-82A6-B2F7648D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BRAND PROOF</a:t>
            </a:r>
          </a:p>
        </p:txBody>
      </p:sp>
      <p:sp>
        <p:nvSpPr>
          <p:cNvPr id="2" name="s2-title">
            <a:extLst xmlns:a="http://schemas.openxmlformats.org/drawingml/2006/main">
              <a:ext uri="{FF2B5EF4-FFF2-40B4-BE49-F238E27FC236}">
                <a16:creationId xmlns:a16="http://schemas.microsoft.com/office/drawing/2014/main" id="{121AA23F-20FC-42F9-827B-CB707113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1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The brand, from full name to tiny icon.</a:t>
            </a:r>
          </a:p>
        </p:txBody>
      </p:sp>
      <p:sp>
        <p:nvSpPr>
          <p:cNvPr id="3" name="coral-tick-64-134">
            <a:extLst xmlns:a="http://schemas.openxmlformats.org/drawingml/2006/main">
              <a:ext uri="{FF2B5EF4-FFF2-40B4-BE49-F238E27FC236}">
                <a16:creationId xmlns:a16="http://schemas.microsoft.com/office/drawing/2014/main" id="{DCE02A38-DB63-4CDC-987C-EE8F69B4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2-light">
            <a:extLst xmlns:a="http://schemas.openxmlformats.org/drawingml/2006/main">
              <a:ext uri="{FF2B5EF4-FFF2-40B4-BE49-F238E27FC236}">
                <a16:creationId xmlns:a16="http://schemas.microsoft.com/office/drawing/2014/main" id="{AF321240-76DD-45B7-BB43-A2741B8F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5219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37513-E496-4CFB-828D-E61918CE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ON LIGHT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80a0c8504a4d2e"/>
          <a:stretch xmlns:a="http://schemas.openxmlformats.org/drawingml/2006/main"/>
        </p:blipFill>
        <p:spPr>
          <a:xfrm xmlns:a="http://schemas.openxmlformats.org/drawingml/2006/main">
            <a:off x="819150" y="2114609"/>
            <a:ext cx="2209800" cy="504707"/>
          </a:xfrm>
          <a:prstGeom xmlns:a="http://schemas.openxmlformats.org/drawingml/2006/main" prst="rect">
            <a:avLst/>
          </a:prstGeom>
        </p:spPr>
      </p:pic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d4fa1544a44fd0"/>
          <a:stretch xmlns:a="http://schemas.openxmlformats.org/drawingml/2006/main"/>
        </p:blipFill>
        <p:spPr>
          <a:xfrm xmlns:a="http://schemas.openxmlformats.org/drawingml/2006/main">
            <a:off x="4686300" y="184785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8" name="s2-dark">
            <a:extLst xmlns:a="http://schemas.openxmlformats.org/drawingml/2006/main">
              <a:ext uri="{FF2B5EF4-FFF2-40B4-BE49-F238E27FC236}">
                <a16:creationId xmlns:a16="http://schemas.microsoft.com/office/drawing/2014/main" id="{D07C9EB2-6295-4DBD-A3D7-84C22F26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00200"/>
            <a:ext cx="56007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17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88FDB7-6EC2-4EC6-B520-6E966677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WHITE ARTWORK · NO BACKGROUND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82c5c98c3436d"/>
          <a:stretch xmlns:a="http://schemas.openxmlformats.org/drawingml/2006/main"/>
        </p:blipFill>
        <p:spPr>
          <a:xfrm xmlns:a="http://schemas.openxmlformats.org/drawingml/2006/main">
            <a:off x="6191250" y="2114609"/>
            <a:ext cx="2209800" cy="504707"/>
          </a:xfrm>
          <a:prstGeom xmlns:a="http://schemas.openxmlformats.org/drawingml/2006/main" prst="rect">
            <a:avLst/>
          </a:prstGeom>
        </p:spPr>
      </p:pic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4cf90985a4e37"/>
          <a:stretch xmlns:a="http://schemas.openxmlformats.org/drawingml/2006/main"/>
        </p:blipFill>
        <p:spPr>
          <a:xfrm xmlns:a="http://schemas.openxmlformats.org/drawingml/2006/main">
            <a:off x="10287000" y="1847850"/>
            <a:ext cx="685800" cy="68580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66466A-A4F8-44C8-AB5F-946CC308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GIVE IT ROOM</a:t>
            </a:r>
          </a:p>
        </p:txBody>
      </p:sp>
      <p:sp>
        <p:nvSpPr>
          <p:cNvPr id="13" name="s2-clear">
            <a:extLst xmlns:a="http://schemas.openxmlformats.org/drawingml/2006/main">
              <a:ext uri="{FF2B5EF4-FFF2-40B4-BE49-F238E27FC236}">
                <a16:creationId xmlns:a16="http://schemas.microsoft.com/office/drawing/2014/main" id="{D95F2F12-31FC-4DB8-B50A-0949AC1A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3276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sp>
        <p:nvSpPr>
          <p:cNvPr id="14" name="s2-clear-zone">
            <a:extLst xmlns:a="http://schemas.openxmlformats.org/drawingml/2006/main">
              <a:ext uri="{FF2B5EF4-FFF2-40B4-BE49-F238E27FC236}">
                <a16:creationId xmlns:a16="http://schemas.microsoft.com/office/drawing/2014/main" id="{5C3599AD-B73F-441E-8E5F-6D7C6EA7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14750"/>
            <a:ext cx="16764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28A62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eddacf1f5247de"/>
          <a:stretch xmlns:a="http://schemas.openxmlformats.org/drawingml/2006/main"/>
        </p:blipFill>
        <p:spPr>
          <a:xfrm xmlns:a="http://schemas.openxmlformats.org/drawingml/2006/main">
            <a:off x="1771650" y="4076700"/>
            <a:ext cx="952500" cy="9525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08442D-D717-4411-AF3F-A8855AE4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38650"/>
            <a:ext cx="266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168C22-7217-4E43-A3F9-EA28DF7A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2895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Nothing crowds the JU/W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650345-C6E5-478D-8A0E-0C7963FD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051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FULL NAME + SMALL ICON</a:t>
            </a:r>
          </a:p>
        </p:txBody>
      </p:sp>
      <p:sp>
        <p:nvSpPr>
          <p:cNvPr id="19" name="s2-min">
            <a:extLst xmlns:a="http://schemas.openxmlformats.org/drawingml/2006/main">
              <a:ext uri="{FF2B5EF4-FFF2-40B4-BE49-F238E27FC236}">
                <a16:creationId xmlns:a16="http://schemas.microsoft.com/office/drawing/2014/main" id="{AA4997E7-1660-481B-812D-0713BDA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409950"/>
            <a:ext cx="32766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01646e9cd14611"/>
          <a:stretch xmlns:a="http://schemas.openxmlformats.org/drawingml/2006/main"/>
        </p:blipFill>
        <p:spPr>
          <a:xfrm xmlns:a="http://schemas.openxmlformats.org/drawingml/2006/main">
            <a:off x="4591565" y="3733800"/>
            <a:ext cx="1751570" cy="4000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62BECC-A8B9-47F3-8CF8-3069E1006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1910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Full name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6bd51b2a3d4148"/>
          <a:stretch xmlns:a="http://schemas.openxmlformats.org/drawingml/2006/main"/>
        </p:blipFill>
        <p:spPr>
          <a:xfrm xmlns:a="http://schemas.openxmlformats.org/drawingml/2006/main">
            <a:off x="4743450" y="4648200"/>
            <a:ext cx="457200" cy="457200"/>
          </a:xfrm>
          <a:prstGeom xmlns:a="http://schemas.openxmlformats.org/drawingml/2006/main" prst="rect">
            <a:avLst/>
          </a:prstGeom>
        </p:spPr>
      </p:pic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a47f8fbee4c7f"/>
          <a:stretch xmlns:a="http://schemas.openxmlformats.org/drawingml/2006/main"/>
        </p:blipFill>
        <p:spPr>
          <a:xfrm xmlns:a="http://schemas.openxmlformats.org/drawingml/2006/main">
            <a:off x="6362700" y="472440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ECD1C3-649B-46E6-B159-F818F3D00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006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Small icon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26C231-831A-464C-B7FA-AAAA83E9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2006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Browser icon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90AFC3-6F70-4EC8-8535-829213F7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43550"/>
            <a:ext cx="3009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Both stay clear and familiar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BC40F3-F337-4CCE-AAB4-F9385940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051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APP + BROWSER</a:t>
            </a:r>
          </a:p>
        </p:txBody>
      </p:sp>
      <p:sp>
        <p:nvSpPr>
          <p:cNvPr id="28" name="s2-platform">
            <a:extLst xmlns:a="http://schemas.openxmlformats.org/drawingml/2006/main">
              <a:ext uri="{FF2B5EF4-FFF2-40B4-BE49-F238E27FC236}">
                <a16:creationId xmlns:a16="http://schemas.microsoft.com/office/drawing/2014/main" id="{5575A6C6-3FFE-4500-A89A-7D971F51D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09950"/>
            <a:ext cx="35814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E7A970-C416-40F1-BEED-1F375BEA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5623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CORAL ON WHITE</a:t>
            </a:r>
          </a:p>
        </p:txBody>
      </p:sp>
      <p:sp>
        <p:nvSpPr>
          <p:cNvPr id="30" name="s2-avatar-field">
            <a:extLst xmlns:a="http://schemas.openxmlformats.org/drawingml/2006/main">
              <a:ext uri="{FF2B5EF4-FFF2-40B4-BE49-F238E27FC236}">
                <a16:creationId xmlns:a16="http://schemas.microsoft.com/office/drawing/2014/main" id="{FD72CD8E-0A6F-4E91-800F-F72EA3AF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10000"/>
            <a:ext cx="1066800" cy="10668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853645b6664853"/>
          <a:stretch xmlns:a="http://schemas.openxmlformats.org/drawingml/2006/main"/>
        </p:blipFill>
        <p:spPr>
          <a:xfrm xmlns:a="http://schemas.openxmlformats.org/drawingml/2006/main">
            <a:off x="8629650" y="4076700"/>
            <a:ext cx="533400" cy="533400"/>
          </a:xfrm>
          <a:prstGeom xmlns:a="http://schemas.openxmlformats.org/drawingml/2006/main" prst="rect">
            <a:avLst/>
          </a:prstGeom>
        </p:spPr>
      </p:pic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5a0418a5e4601"/>
          <a:stretch xmlns:a="http://schemas.openxmlformats.org/drawingml/2006/main"/>
        </p:blipFill>
        <p:spPr>
          <a:xfrm xmlns:a="http://schemas.openxmlformats.org/drawingml/2006/main">
            <a:off x="9963150" y="3981450"/>
            <a:ext cx="647700" cy="647700"/>
          </a:xfrm>
          <a:prstGeom xmlns:a="http://schemas.openxmlformats.org/drawingml/2006/main" prst="rect">
            <a:avLst/>
          </a:prstGeom>
        </p:spPr>
      </p:pic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8B092A6-F674-4830-ACF7-3BCC2E735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01015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App icon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5DE0D3-2788-4822-AF50-C94917DD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70535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Browser icon</a:t>
            </a:r>
          </a:p>
        </p:txBody>
      </p:sp>
      <p:sp>
        <p:nvSpPr>
          <p:cNvPr id="35" name="s2-cocoa">
            <a:extLst xmlns:a="http://schemas.openxmlformats.org/drawingml/2006/main">
              <a:ext uri="{FF2B5EF4-FFF2-40B4-BE49-F238E27FC236}">
                <a16:creationId xmlns:a16="http://schemas.microsoft.com/office/drawing/2014/main" id="{A876B0D1-7137-46D2-80A3-5A00C42D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391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17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D9B951-3E92-4FF4-8CFF-6BCB484C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33400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Cocoa</a:t>
            </a:r>
          </a:p>
        </p:txBody>
      </p:sp>
      <p:sp>
        <p:nvSpPr>
          <p:cNvPr id="37" name="s2-coral">
            <a:extLst xmlns:a="http://schemas.openxmlformats.org/drawingml/2006/main">
              <a:ext uri="{FF2B5EF4-FFF2-40B4-BE49-F238E27FC236}">
                <a16:creationId xmlns:a16="http://schemas.microsoft.com/office/drawing/2014/main" id="{48D8F90D-9371-4B3C-8420-17515B1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391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239A33-318B-42A3-B4A1-59E9877F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5334000"/>
            <a:ext cx="81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Coral</a:t>
            </a:r>
          </a:p>
        </p:txBody>
      </p:sp>
      <p:sp>
        <p:nvSpPr>
          <p:cNvPr id="39" name="s2-paper">
            <a:extLst xmlns:a="http://schemas.openxmlformats.org/drawingml/2006/main">
              <a:ext uri="{FF2B5EF4-FFF2-40B4-BE49-F238E27FC236}">
                <a16:creationId xmlns:a16="http://schemas.microsoft.com/office/drawing/2014/main" id="{B6E01B94-CF6C-4F6C-B255-AAD5902F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391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849BADF-02CC-4F75-A195-B1C8D947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33400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05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Warm paper</a:t>
            </a:r>
          </a:p>
        </p:txBody>
      </p:sp>
      <p:sp>
        <p:nvSpPr>
          <p:cNvPr id="41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C9C60CE6-B4E8-4950-B61B-D33A3BEE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0A8A14-4921-49DB-A6F4-91F06614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7BE83C-5EB2-4569-9E44-393C0BBF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977644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3-v3-field">
            <a:extLst xmlns:a="http://schemas.openxmlformats.org/drawingml/2006/main">
              <a:ext uri="{FF2B5EF4-FFF2-40B4-BE49-F238E27FC236}">
                <a16:creationId xmlns:a16="http://schemas.microsoft.com/office/drawing/2014/main" id="{3F991C6A-8CB1-4EFE-ADB1-C5787519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0"/>
            <a:ext cx="765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4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84608197954e99"/>
          <a:srcRect xmlns:a="http://schemas.openxmlformats.org/drawingml/2006/main" l="31" t="0" r="3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15100" y="0"/>
            <a:ext cx="41148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6814B7-CF03-408F-ACBA-DE0DD290F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DROP 01 · LAGOS</a:t>
            </a:r>
          </a:p>
        </p:txBody>
      </p:sp>
      <p:sp>
        <p:nvSpPr>
          <p:cNvPr id="4" name="coral-tick-64-108">
            <a:extLst xmlns:a="http://schemas.openxmlformats.org/drawingml/2006/main">
              <a:ext uri="{FF2B5EF4-FFF2-40B4-BE49-F238E27FC236}">
                <a16:creationId xmlns:a16="http://schemas.microsoft.com/office/drawing/2014/main" id="{1AD1A6CD-828B-469A-BC9A-559906F7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3-title">
            <a:extLst xmlns:a="http://schemas.openxmlformats.org/drawingml/2006/main">
              <a:ext uri="{FF2B5EF4-FFF2-40B4-BE49-F238E27FC236}">
                <a16:creationId xmlns:a16="http://schemas.microsoft.com/office/drawing/2014/main" id="{5A9B9EDE-77F4-4B12-BE28-9EB362B0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33147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75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975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One approved</a:t>
            </a:r>
          </a:p>
          <a:p xmlns:a="http://schemas.openxmlformats.org/drawingml/2006/main">
            <a:pPr algn="l">
              <a:defRPr sz="3975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975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piece carries</a:t>
            </a:r>
          </a:p>
          <a:p xmlns:a="http://schemas.openxmlformats.org/drawingml/2006/main">
            <a:pPr algn="l">
              <a:defRPr sz="3975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975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the whole identity.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CA4FE4-3A84-4BE0-BF72-B56A4F2E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672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CORAL DRIFT DRESS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31DC0-F92F-42A2-ACFE-E00366DF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75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JUW-001 · AVAILABLE · ₦24,500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02c0c243d54c3a"/>
          <a:stretch xmlns:a="http://schemas.openxmlformats.org/drawingml/2006/main"/>
        </p:blipFill>
        <p:spPr>
          <a:xfrm xmlns:a="http://schemas.openxmlformats.org/drawingml/2006/main">
            <a:off x="628650" y="5240338"/>
            <a:ext cx="2571750" cy="5873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7CC24-FA39-4870-A631-A4E455256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24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Drop 01 brand concept</a:t>
            </a:r>
          </a:p>
        </p:txBody>
      </p:sp>
      <p:sp>
        <p:nvSpPr>
          <p:cNvPr id="10" name="s3-model-proof-label">
            <a:extLst xmlns:a="http://schemas.openxmlformats.org/drawingml/2006/main">
              <a:ext uri="{FF2B5EF4-FFF2-40B4-BE49-F238E27FC236}">
                <a16:creationId xmlns:a16="http://schemas.microsoft.com/office/drawing/2014/main" id="{4DDC26DD-088A-4527-A072-10F3A33E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6000750"/>
            <a:ext cx="2324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7170FA-C496-48E0-B6FC-83AFF0324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038850"/>
            <a:ext cx="2057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LULU · JUW-001</a:t>
            </a:r>
          </a:p>
        </p:txBody>
      </p:sp>
      <p:sp>
        <p:nvSpPr>
          <p:cNvPr id="12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7AE5DDB6-6692-4E5B-B268-9668B6EC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C974BB-0C2B-4A59-BC68-813E3478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D3A76E-E348-450B-94EB-6CDD4BD48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362200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EE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C72291-A778-4CA3-84C8-1315B15C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ONE PIECE, ONE RECORD</a:t>
            </a:r>
          </a:p>
        </p:txBody>
      </p:sp>
      <p:sp>
        <p:nvSpPr>
          <p:cNvPr id="2" name="s4-title">
            <a:extLst xmlns:a="http://schemas.openxmlformats.org/drawingml/2006/main">
              <a:ext uri="{FF2B5EF4-FFF2-40B4-BE49-F238E27FC236}">
                <a16:creationId xmlns:a16="http://schemas.microsoft.com/office/drawing/2014/main" id="{2FEB4AEA-C59D-4365-B524-04BCF1FA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723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Every detail earns trust.</a:t>
            </a:r>
          </a:p>
        </p:txBody>
      </p:sp>
      <p:sp>
        <p:nvSpPr>
          <p:cNvPr id="3" name="coral-tick-64-144">
            <a:extLst xmlns:a="http://schemas.openxmlformats.org/drawingml/2006/main">
              <a:ext uri="{FF2B5EF4-FFF2-40B4-BE49-F238E27FC236}">
                <a16:creationId xmlns:a16="http://schemas.microsoft.com/office/drawing/2014/main" id="{AC4E0FD7-DF3A-4B50-8E2C-C6CE5CDE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716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1245500024b22"/>
          <a:srcRect xmlns:a="http://schemas.openxmlformats.org/drawingml/2006/main" l="0" t="9986" r="0" b="99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00200"/>
            <a:ext cx="4610100" cy="4610100"/>
          </a:xfrm>
          <a:prstGeom xmlns:a="http://schemas.openxmlformats.org/drawingml/2006/main" prst="rect">
            <a:avLst/>
          </a:prstGeom>
        </p:spPr>
      </p:pic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8b3fa1206f4c06"/>
          <a:srcRect xmlns:a="http://schemas.openxmlformats.org/drawingml/2006/main" l="0" t="3317" r="0" b="33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4476750"/>
            <a:ext cx="1485900" cy="17335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466CE-8292-40EA-A90C-4032BBC8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6192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CORAL DRIFT DRESS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CBC2AE-73DA-4214-9D6E-EBD5929D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94310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00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JUW-001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2F78CD-30C0-46B0-94BB-5E6F8D3DB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241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ORIGINAL BRAND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66A3EC-BB65-4E59-BBA9-92D89440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051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Not recorded in current catalogue</a:t>
            </a:r>
          </a:p>
        </p:txBody>
      </p:sp>
      <p:sp>
        <p:nvSpPr>
          <p:cNvPr id="10" name="s4-line-286">
            <a:extLst xmlns:a="http://schemas.openxmlformats.org/drawingml/2006/main">
              <a:ext uri="{FF2B5EF4-FFF2-40B4-BE49-F238E27FC236}">
                <a16:creationId xmlns:a16="http://schemas.microsoft.com/office/drawing/2014/main" id="{0D50ABC0-E41A-449A-894C-2550857E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F5C4AB-BC1A-4433-85CF-C85EF67F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194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CONDITION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C27C5D-BCD1-43E2-8578-5A385E8E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004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Excellent pre-loved</a:t>
            </a:r>
          </a:p>
        </p:txBody>
      </p:sp>
      <p:sp>
        <p:nvSpPr>
          <p:cNvPr id="13" name="s4-line-338">
            <a:extLst xmlns:a="http://schemas.openxmlformats.org/drawingml/2006/main">
              <a:ext uri="{FF2B5EF4-FFF2-40B4-BE49-F238E27FC236}">
                <a16:creationId xmlns:a16="http://schemas.microsoft.com/office/drawing/2014/main" id="{3E9AEAC6-3065-4ABF-AB8E-1ADE0456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052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DC9C5C-ECF9-4EC3-94D9-756C2064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147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TAGGED 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A2048-81FA-4DA5-98A7-9C8E99DD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957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UK 10</a:t>
            </a:r>
          </a:p>
        </p:txBody>
      </p:sp>
      <p:sp>
        <p:nvSpPr>
          <p:cNvPr id="16" name="s4-line-390">
            <a:extLst xmlns:a="http://schemas.openxmlformats.org/drawingml/2006/main">
              <a:ext uri="{FF2B5EF4-FFF2-40B4-BE49-F238E27FC236}">
                <a16:creationId xmlns:a16="http://schemas.microsoft.com/office/drawing/2014/main" id="{DE50215E-7C93-447A-AE51-8028DB7D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005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C06D7-6B2B-4379-A267-7C8EDD52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100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MEASUREMENTS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FC1506-065F-44CA-8064-500DA2CC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910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Bust 88 cm · Waist 74 cm · Length 121 cm</a:t>
            </a:r>
          </a:p>
        </p:txBody>
      </p:sp>
      <p:sp>
        <p:nvSpPr>
          <p:cNvPr id="19" name="s4-line-442">
            <a:extLst xmlns:a="http://schemas.openxmlformats.org/drawingml/2006/main">
              <a:ext uri="{FF2B5EF4-FFF2-40B4-BE49-F238E27FC236}">
                <a16:creationId xmlns:a16="http://schemas.microsoft.com/office/drawing/2014/main" id="{C6128C3A-CE3C-44B2-950E-1052C1D8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958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CEF6C3-6A55-4A5D-BA26-FCCB0823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053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PRICE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97B072-97D0-4A36-85FE-1FC1B936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6863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₦24,500</a:t>
            </a:r>
          </a:p>
        </p:txBody>
      </p:sp>
      <p:sp>
        <p:nvSpPr>
          <p:cNvPr id="22" name="s4-line-494">
            <a:extLst xmlns:a="http://schemas.openxmlformats.org/drawingml/2006/main">
              <a:ext uri="{FF2B5EF4-FFF2-40B4-BE49-F238E27FC236}">
                <a16:creationId xmlns:a16="http://schemas.microsoft.com/office/drawing/2014/main" id="{0E8AC947-22FC-46FD-81DF-A7E74F6C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9C8810-AAB8-4DEB-8EB0-E8598D28C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200650"/>
            <a:ext cx="1581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AVAILABILITY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C66078-AB4A-4C2D-9D38-E6087A37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181600"/>
            <a:ext cx="327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AVAILABLE · one piece</a:t>
            </a:r>
          </a:p>
        </p:txBody>
      </p:sp>
      <p:sp>
        <p:nvSpPr>
          <p:cNvPr id="25" name="s4-line-546">
            <a:extLst xmlns:a="http://schemas.openxmlformats.org/drawingml/2006/main">
              <a:ext uri="{FF2B5EF4-FFF2-40B4-BE49-F238E27FC236}">
                <a16:creationId xmlns:a16="http://schemas.microsoft.com/office/drawing/2014/main" id="{86BB41BC-3F0A-465F-9D97-BB053FDD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486400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0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coral-tick-692-616">
            <a:extLst xmlns:a="http://schemas.openxmlformats.org/drawingml/2006/main">
              <a:ext uri="{FF2B5EF4-FFF2-40B4-BE49-F238E27FC236}">
                <a16:creationId xmlns:a16="http://schemas.microsoft.com/office/drawing/2014/main" id="{AC615653-B579-4D59-BA75-F784EA75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674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AA4628-8893-4BA4-BA8A-D620AABF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7531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The missing original-brand value is shown honestly, never guessed.</a:t>
            </a:r>
          </a:p>
        </p:txBody>
      </p:sp>
      <p:sp>
        <p:nvSpPr>
          <p:cNvPr id="28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DC0601C2-4CE1-4D97-B18E-7C044B9F3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0DAEA7-174F-4383-B57D-6DC6F2E4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51C30A-CE8D-4563-96A6-A6D644A8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677569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42f77640b6458c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5-editorial-column">
            <a:extLst xmlns:a="http://schemas.openxmlformats.org/drawingml/2006/main">
              <a:ext uri="{FF2B5EF4-FFF2-40B4-BE49-F238E27FC236}">
                <a16:creationId xmlns:a16="http://schemas.microsoft.com/office/drawing/2014/main" id="{00F3170B-7925-45CD-92AE-9C0B974D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5339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f9d8b9641c4ac5"/>
          <a:stretch xmlns:a="http://schemas.openxmlformats.org/drawingml/2006/main"/>
        </p:blipFill>
        <p:spPr>
          <a:xfrm xmlns:a="http://schemas.openxmlformats.org/drawingml/2006/main" rot="1080000">
            <a:off x="5638800" y="3486150"/>
            <a:ext cx="876300" cy="8763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D3E9F8-D9CF-45A9-8B84-C54C3585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CURATED, NOT MANUFACTURED</a:t>
            </a:r>
          </a:p>
        </p:txBody>
      </p:sp>
      <p:sp>
        <p:nvSpPr>
          <p:cNvPr id="5" name="coral-tick-64-98">
            <a:extLst xmlns:a="http://schemas.openxmlformats.org/drawingml/2006/main">
              <a:ext uri="{FF2B5EF4-FFF2-40B4-BE49-F238E27FC236}">
                <a16:creationId xmlns:a16="http://schemas.microsoft.com/office/drawing/2014/main" id="{E6BC1053-49F2-4C55-8B00-EEE332FD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334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5-title">
            <a:extLst xmlns:a="http://schemas.openxmlformats.org/drawingml/2006/main">
              <a:ext uri="{FF2B5EF4-FFF2-40B4-BE49-F238E27FC236}">
                <a16:creationId xmlns:a16="http://schemas.microsoft.com/office/drawing/2014/main" id="{449B4F1E-1474-459A-95B0-67A93015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35623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Removable</a:t>
            </a:r>
          </a:p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provenance.</a:t>
            </a:r>
          </a:p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Original label:</a:t>
            </a:r>
          </a:p>
          <a:p xmlns:a="http://schemas.openxmlformats.org/drawingml/2006/main">
            <a:pPr algn="l">
              <a:defRPr sz="34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4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untouched.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F13B33-418A-4F75-9EA0-90B9F0A09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43350"/>
            <a:ext cx="31813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JU/W identifies the edit—</a:t>
            </a:r>
          </a:p>
          <a:p xmlns:a="http://schemas.openxmlformats.org/drawingml/2006/main">
            <a:pPr>
              <a:defRPr sz="1575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not the garment’s maker.</a:t>
            </a:r>
          </a:p>
        </p:txBody>
      </p:sp>
      <p:sp>
        <p:nvSpPr>
          <p:cNvPr id="8" name="s5-disclosure-back">
            <a:extLst xmlns:a="http://schemas.openxmlformats.org/drawingml/2006/main">
              <a:ext uri="{FF2B5EF4-FFF2-40B4-BE49-F238E27FC236}">
                <a16:creationId xmlns:a16="http://schemas.microsoft.com/office/drawing/2014/main" id="{474BBB9B-4258-416E-9D41-338EBE4C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76900"/>
            <a:ext cx="3848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904967-56EA-480A-AEEB-315C6DA1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HANG TAG CONCEPT</a:t>
            </a:r>
          </a:p>
        </p:txBody>
      </p:sp>
      <p:sp>
        <p:nvSpPr>
          <p:cNvPr id="10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FFEB56C2-9324-4BEF-8701-CC44086F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7CB27-7CBB-42B0-A535-186158F4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17B31B-3477-4569-9E58-29429639C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790717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d678e488eb4a6f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6-copy-back">
            <a:extLst xmlns:a="http://schemas.openxmlformats.org/drawingml/2006/main">
              <a:ext uri="{FF2B5EF4-FFF2-40B4-BE49-F238E27FC236}">
                <a16:creationId xmlns:a16="http://schemas.microsoft.com/office/drawing/2014/main" id="{19C54943-DFC1-4EDC-BA1A-7FAD5C9D4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14350"/>
            <a:ext cx="3562350" cy="464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FF5F03-A82F-421B-AA97-5BD574782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78105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BEHIND THE EDIT</a:t>
            </a:r>
          </a:p>
        </p:txBody>
      </p:sp>
      <p:sp>
        <p:nvSpPr>
          <p:cNvPr id="4" name="coral-tick-870-116">
            <a:extLst xmlns:a="http://schemas.openxmlformats.org/drawingml/2006/main">
              <a:ext uri="{FF2B5EF4-FFF2-40B4-BE49-F238E27FC236}">
                <a16:creationId xmlns:a16="http://schemas.microsoft.com/office/drawing/2014/main" id="{85E68030-F5F6-4365-B3E1-AE345C8B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1049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6-title">
            <a:extLst xmlns:a="http://schemas.openxmlformats.org/drawingml/2006/main">
              <a:ext uri="{FF2B5EF4-FFF2-40B4-BE49-F238E27FC236}">
                <a16:creationId xmlns:a16="http://schemas.microsoft.com/office/drawing/2014/main" id="{6983CE83-FF27-4181-884B-D2127A13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28750"/>
            <a:ext cx="30289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7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Evidence first.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01074-A637-4852-B664-F89D9E05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146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650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Inspect. Measure. Record.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11956-BB74-49FE-B2F4-2F5A58FE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6230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5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Condition, fit and measurements make a one-off piece safer to choose at a distance.</a:t>
            </a:r>
          </a:p>
        </p:txBody>
      </p:sp>
      <p:sp>
        <p:nvSpPr>
          <p:cNvPr id="8" name="s6-disclosure-back">
            <a:extLst xmlns:a="http://schemas.openxmlformats.org/drawingml/2006/main">
              <a:ext uri="{FF2B5EF4-FFF2-40B4-BE49-F238E27FC236}">
                <a16:creationId xmlns:a16="http://schemas.microsoft.com/office/drawing/2014/main" id="{7E2E62E0-1475-4EAE-A717-D90A26D6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391150"/>
            <a:ext cx="3562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E0B4EC-BD7D-4CA1-BCCA-335068AF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657850"/>
            <a:ext cx="3028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BEHIND THE EDIT · CONCEPT</a:t>
            </a:r>
          </a:p>
        </p:txBody>
      </p:sp>
      <p:sp>
        <p:nvSpPr>
          <p:cNvPr id="10" name="s6-folio-back">
            <a:extLst xmlns:a="http://schemas.openxmlformats.org/drawingml/2006/main">
              <a:ext uri="{FF2B5EF4-FFF2-40B4-BE49-F238E27FC236}">
                <a16:creationId xmlns:a16="http://schemas.microsoft.com/office/drawing/2014/main" id="{519F3CB2-13A8-4E1D-8596-BE67AEF4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1277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DB4ECDB3-E7D1-4186-984C-D4741B64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46489B-2983-4585-8252-CCA3C032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8E112B-A399-4DDA-BC31-1CA7A036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402759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4500f245d4284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9746531f94cb1"/>
          <a:stretch xmlns:a="http://schemas.openxmlformats.org/drawingml/2006/main"/>
        </p:blipFill>
        <p:spPr>
          <a:xfrm xmlns:a="http://schemas.openxmlformats.org/drawingml/2006/main" rot="-780000">
            <a:off x="2211859" y="2381250"/>
            <a:ext cx="2377131" cy="542925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96bbd053c74ed3"/>
          <a:stretch xmlns:a="http://schemas.openxmlformats.org/drawingml/2006/main"/>
        </p:blipFill>
        <p:spPr>
          <a:xfrm xmlns:a="http://schemas.openxmlformats.org/drawingml/2006/main" rot="-780000">
            <a:off x="3105150" y="1181100"/>
            <a:ext cx="457200" cy="4572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57d5370dd3448a"/>
          <a:stretch xmlns:a="http://schemas.openxmlformats.org/drawingml/2006/main"/>
        </p:blipFill>
        <p:spPr>
          <a:xfrm xmlns:a="http://schemas.openxmlformats.org/drawingml/2006/main" rot="-900000">
            <a:off x="4800600" y="5276850"/>
            <a:ext cx="457200" cy="4572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29741f1e849fe"/>
          <a:stretch xmlns:a="http://schemas.openxmlformats.org/drawingml/2006/main"/>
        </p:blipFill>
        <p:spPr>
          <a:xfrm xmlns:a="http://schemas.openxmlformats.org/drawingml/2006/main" rot="-120000">
            <a:off x="5905500" y="5105812"/>
            <a:ext cx="1581150" cy="361127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29d0d16b442a6"/>
          <a:stretch xmlns:a="http://schemas.openxmlformats.org/drawingml/2006/main"/>
        </p:blipFill>
        <p:spPr>
          <a:xfrm xmlns:a="http://schemas.openxmlformats.org/drawingml/2006/main">
            <a:off x="8172450" y="593784"/>
            <a:ext cx="2724150" cy="6221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10C39-234A-4E4B-A183-B8A4BE77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192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PACKED BY LULU</a:t>
            </a:r>
          </a:p>
        </p:txBody>
      </p:sp>
      <p:sp>
        <p:nvSpPr>
          <p:cNvPr id="8" name="coral-tick-858-204">
            <a:extLst xmlns:a="http://schemas.openxmlformats.org/drawingml/2006/main">
              <a:ext uri="{FF2B5EF4-FFF2-40B4-BE49-F238E27FC236}">
                <a16:creationId xmlns:a16="http://schemas.microsoft.com/office/drawing/2014/main" id="{38201F8B-FFC4-489C-BF6C-EDBED536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431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7-title">
            <a:extLst xmlns:a="http://schemas.openxmlformats.org/drawingml/2006/main">
              <a:ext uri="{FF2B5EF4-FFF2-40B4-BE49-F238E27FC236}">
                <a16:creationId xmlns:a16="http://schemas.microsoft.com/office/drawing/2014/main" id="{A57216D3-32ED-43AB-98FD-CC654F39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3147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7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One piece.</a:t>
            </a:r>
          </a:p>
          <a:p xmlns:a="http://schemas.openxmlformats.org/drawingml/2006/main">
            <a:pPr algn="l">
              <a:defRPr sz="37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7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Packed with care.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5DC77D-54DF-4385-91D8-98549C82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43350"/>
            <a:ext cx="3295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Mailer · warm-paper tissue · JU/W seal</a:t>
            </a:r>
          </a:p>
          <a:p xmlns:a="http://schemas.openxmlformats.org/drawingml/2006/main">
            <a:pPr>
              <a:defRPr sz="1425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425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Full-name thank-you card · order + condition card</a:t>
            </a:r>
          </a:p>
        </p:txBody>
      </p:sp>
      <p:sp>
        <p:nvSpPr>
          <p:cNvPr id="11" name="s7-disclosure-back">
            <a:extLst xmlns:a="http://schemas.openxmlformats.org/drawingml/2006/main">
              <a:ext uri="{FF2B5EF4-FFF2-40B4-BE49-F238E27FC236}">
                <a16:creationId xmlns:a16="http://schemas.microsoft.com/office/drawing/2014/main" id="{44571BC4-2AEE-47E6-B3EE-6602C58A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7150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CCA5DD-A51C-4105-B299-01429C06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886450"/>
            <a:ext cx="3581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PACKAGING CONCEPT</a:t>
            </a:r>
          </a:p>
        </p:txBody>
      </p:sp>
      <p:sp>
        <p:nvSpPr>
          <p:cNvPr id="13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252F5E99-EBE7-46C2-8FDE-7D570CAE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66AD6-634A-4308-9A94-8ED72C06E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3A1F48-7198-4C21-B333-DA7DFFFA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175058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B54B6A-CB32-4897-A7E1-3CE4AF9B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DIGITAL DISCOVERY</a:t>
            </a:r>
          </a:p>
        </p:txBody>
      </p:sp>
      <p:sp>
        <p:nvSpPr>
          <p:cNvPr id="2" name="s8-title">
            <a:extLst xmlns:a="http://schemas.openxmlformats.org/drawingml/2006/main">
              <a:ext uri="{FF2B5EF4-FFF2-40B4-BE49-F238E27FC236}">
                <a16:creationId xmlns:a16="http://schemas.microsoft.com/office/drawing/2014/main" id="{1C6A25DC-B02C-4E24-AA0B-252B28B9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1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The identity holds at every screen size.</a:t>
            </a:r>
          </a:p>
        </p:txBody>
      </p:sp>
      <p:sp>
        <p:nvSpPr>
          <p:cNvPr id="3" name="coral-tick-64-136">
            <a:extLst xmlns:a="http://schemas.openxmlformats.org/drawingml/2006/main">
              <a:ext uri="{FF2B5EF4-FFF2-40B4-BE49-F238E27FC236}">
                <a16:creationId xmlns:a16="http://schemas.microsoft.com/office/drawing/2014/main" id="{E6A99E89-077E-49FC-8BDE-B453B20D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8-desktop-bezel">
            <a:extLst xmlns:a="http://schemas.openxmlformats.org/drawingml/2006/main">
              <a:ext uri="{FF2B5EF4-FFF2-40B4-BE49-F238E27FC236}">
                <a16:creationId xmlns:a16="http://schemas.microsoft.com/office/drawing/2014/main" id="{A5A5B6BF-82BD-4E2D-83CB-CF96CA28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8496300" cy="41719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19f26ccb6348d9"/>
          <a:srcRect xmlns:a="http://schemas.openxmlformats.org/drawingml/2006/main" l="0" t="9119" r="0" b="91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350" y="1847850"/>
            <a:ext cx="8077200" cy="3714750"/>
          </a:xfrm>
          <a:prstGeom xmlns:a="http://schemas.openxmlformats.org/drawingml/2006/main" prst="roundRect">
            <a:avLst>
              <a:gd name="adj" fmla="val 4103"/>
            </a:avLst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a72e336f1145ee"/>
          <a:srcRect xmlns:a="http://schemas.openxmlformats.org/drawingml/2006/main" l="0" t="8935" r="0" b="89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10200" y="2305050"/>
            <a:ext cx="2381250" cy="3257550"/>
          </a:xfrm>
          <a:prstGeom xmlns:a="http://schemas.openxmlformats.org/drawingml/2006/main" prst="roundRect">
            <a:avLst>
              <a:gd name="adj" fmla="val 6400"/>
            </a:avLst>
          </a:prstGeom>
        </p:spPr>
      </p:pic>
      <p:sp>
        <p:nvSpPr>
          <p:cNvPr id="7" name="s8-v3-proof-label">
            <a:extLst xmlns:a="http://schemas.openxmlformats.org/drawingml/2006/main">
              <a:ext uri="{FF2B5EF4-FFF2-40B4-BE49-F238E27FC236}">
                <a16:creationId xmlns:a16="http://schemas.microsoft.com/office/drawing/2014/main" id="{7EC97B84-82D8-4180-9C4A-9C6E6640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2197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BDDAB-2706-44CB-9D47-5533ADF4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2578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LULU · JUW-001</a:t>
            </a:r>
          </a:p>
        </p:txBody>
      </p:sp>
      <p:sp>
        <p:nvSpPr>
          <p:cNvPr id="9" name="s8-desktop-foot">
            <a:extLst xmlns:a="http://schemas.openxmlformats.org/drawingml/2006/main">
              <a:ext uri="{FF2B5EF4-FFF2-40B4-BE49-F238E27FC236}">
                <a16:creationId xmlns:a16="http://schemas.microsoft.com/office/drawing/2014/main" id="{20F43B0D-137C-4D22-A470-6499873D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81025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AAA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8-mobile-bezel">
            <a:extLst xmlns:a="http://schemas.openxmlformats.org/drawingml/2006/main">
              <a:ext uri="{FF2B5EF4-FFF2-40B4-BE49-F238E27FC236}">
                <a16:creationId xmlns:a16="http://schemas.microsoft.com/office/drawing/2014/main" id="{E3FC4EFD-D7A4-43C3-8577-22F2FEFB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428750"/>
            <a:ext cx="2114550" cy="41719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07f9e01215425d"/>
          <a:srcRect xmlns:a="http://schemas.openxmlformats.org/drawingml/2006/main" l="96" t="0" r="9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01200" y="1638300"/>
            <a:ext cx="1885950" cy="3409950"/>
          </a:xfrm>
          <a:prstGeom xmlns:a="http://schemas.openxmlformats.org/drawingml/2006/main" prst="roundRect">
            <a:avLst>
              <a:gd name="adj" fmla="val 8081"/>
            </a:avLst>
          </a:prstGeom>
        </p:spPr>
      </p:pic>
      <p:sp>
        <p:nvSpPr>
          <p:cNvPr id="12" name="s8-pwa-field">
            <a:extLst xmlns:a="http://schemas.openxmlformats.org/drawingml/2006/main">
              <a:ext uri="{FF2B5EF4-FFF2-40B4-BE49-F238E27FC236}">
                <a16:creationId xmlns:a16="http://schemas.microsoft.com/office/drawing/2014/main" id="{23AE27C0-A9EB-46AB-9E8B-5D023374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5734050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c84a9e871412e"/>
          <a:stretch xmlns:a="http://schemas.openxmlformats.org/drawingml/2006/main"/>
        </p:blipFill>
        <p:spPr>
          <a:xfrm xmlns:a="http://schemas.openxmlformats.org/drawingml/2006/main">
            <a:off x="9791700" y="5829300"/>
            <a:ext cx="190500" cy="1905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31E60C-43E3-44BE-B10D-5E5AA190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61531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05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APP ICON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8ebc5f22914748"/>
          <a:stretch xmlns:a="http://schemas.openxmlformats.org/drawingml/2006/main"/>
        </p:blipFill>
        <p:spPr>
          <a:xfrm xmlns:a="http://schemas.openxmlformats.org/drawingml/2006/main">
            <a:off x="10744200" y="5772150"/>
            <a:ext cx="304800" cy="304800"/>
          </a:xfrm>
          <a:prstGeom xmlns:a="http://schemas.openxmlformats.org/drawingml/2006/main" prst="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C29A2D-C773-44FE-A3F7-03636A42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6153150"/>
            <a:ext cx="1181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05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BROWSER ICON</a:t>
            </a:r>
          </a:p>
        </p:txBody>
      </p:sp>
      <p:sp>
        <p:nvSpPr>
          <p:cNvPr id="17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1564B061-6D0C-4FED-9512-E4153BE2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AFBAF6-1F07-4701-B9B1-EE746E1F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8EA19D-744F-4F61-AB79-DA97C787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746873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EE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2F0CC9-3261-4B9A-83C9-DFC35A8F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SOCIAL AND WHATSAPP COMMERCE</a:t>
            </a:r>
          </a:p>
        </p:txBody>
      </p:sp>
      <p:sp>
        <p:nvSpPr>
          <p:cNvPr id="2" name="s9-title">
            <a:extLst xmlns:a="http://schemas.openxmlformats.org/drawingml/2006/main">
              <a:ext uri="{FF2B5EF4-FFF2-40B4-BE49-F238E27FC236}">
                <a16:creationId xmlns:a16="http://schemas.microsoft.com/office/drawing/2014/main" id="{C83BBE65-EEFD-4B06-AC7C-7A65CAA1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>
                <a:solidFill>
                  <a:srgbClr val="181412"/>
                </a:solidFill>
                <a:latin typeface="Bodoni 72"/>
                <a:ea typeface="Bodoni 72"/>
                <a:cs typeface="Bodoni 72"/>
              </a:defRPr>
            </a:pPr>
            <a:r>
              <a:rPr sz="3150">
                <a:solidFill>
                  <a:srgbClr val="181412"/>
                </a:solidFill>
                <a:latin typeface="Bodoni 72"/>
                <a:ea typeface="Bodoni 72"/>
                <a:cs typeface="Bodoni 72"/>
              </a:rPr>
              <a:t>Discovery stays human through the handoff.</a:t>
            </a:r>
          </a:p>
        </p:txBody>
      </p:sp>
      <p:sp>
        <p:nvSpPr>
          <p:cNvPr id="3" name="coral-tick-64-136">
            <a:extLst xmlns:a="http://schemas.openxmlformats.org/drawingml/2006/main">
              <a:ext uri="{FF2B5EF4-FFF2-40B4-BE49-F238E27FC236}">
                <a16:creationId xmlns:a16="http://schemas.microsoft.com/office/drawing/2014/main" id="{2AB92272-6E63-419D-94BA-26C939D8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9-story-a">
            <a:extLst xmlns:a="http://schemas.openxmlformats.org/drawingml/2006/main">
              <a:ext uri="{FF2B5EF4-FFF2-40B4-BE49-F238E27FC236}">
                <a16:creationId xmlns:a16="http://schemas.microsoft.com/office/drawing/2014/main" id="{E3007A9D-BCBF-441F-ADE4-1B2B1C0D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809750" cy="39052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bc93d8f7864485"/>
          <a:srcRect xmlns:a="http://schemas.openxmlformats.org/drawingml/2006/main" l="7611" t="0" r="76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771650"/>
            <a:ext cx="1619250" cy="3181350"/>
          </a:xfrm>
          <a:prstGeom xmlns:a="http://schemas.openxmlformats.org/drawingml/2006/main" prst="roundRect">
            <a:avLst>
              <a:gd name="adj" fmla="val 9412"/>
            </a:avLst>
          </a:prstGeom>
        </p:spPr>
      </p:pic>
      <p:sp>
        <p:nvSpPr>
          <p:cNvPr id="6" name="s9-v3-proof-label">
            <a:extLst xmlns:a="http://schemas.openxmlformats.org/drawingml/2006/main">
              <a:ext uri="{FF2B5EF4-FFF2-40B4-BE49-F238E27FC236}">
                <a16:creationId xmlns:a16="http://schemas.microsoft.com/office/drawing/2014/main" id="{14D2326B-C6C7-4131-BC30-8BD2B5C32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59E6E1-85CA-4379-80F5-FAE71883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05350"/>
            <a:ext cx="13906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LULU · JUW-001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2c3b3c784b46c8"/>
          <a:stretch xmlns:a="http://schemas.openxmlformats.org/drawingml/2006/main"/>
        </p:blipFill>
        <p:spPr>
          <a:xfrm xmlns:a="http://schemas.openxmlformats.org/drawingml/2006/main">
            <a:off x="847210" y="5105400"/>
            <a:ext cx="1334530" cy="304800"/>
          </a:xfrm>
          <a:prstGeom xmlns:a="http://schemas.openxmlformats.org/drawingml/2006/main" prst="rect">
            <a:avLst/>
          </a:prstGeom>
        </p:spPr>
      </p:pic>
      <p:sp>
        <p:nvSpPr>
          <p:cNvPr id="9" name="s9-story-b">
            <a:extLst xmlns:a="http://schemas.openxmlformats.org/drawingml/2006/main">
              <a:ext uri="{FF2B5EF4-FFF2-40B4-BE49-F238E27FC236}">
                <a16:creationId xmlns:a16="http://schemas.microsoft.com/office/drawing/2014/main" id="{FAA0CE9F-6C69-41E7-8362-7FC5B70D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676400"/>
            <a:ext cx="1809750" cy="390525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70780545fd41cc"/>
          <a:srcRect xmlns:a="http://schemas.openxmlformats.org/drawingml/2006/main" l="18200" t="0" r="182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86050" y="1771650"/>
            <a:ext cx="1619250" cy="3181350"/>
          </a:xfrm>
          <a:prstGeom xmlns:a="http://schemas.openxmlformats.org/drawingml/2006/main" prst="roundRect">
            <a:avLst>
              <a:gd name="adj" fmla="val 9412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16CC8F-7C3B-4AA5-BD17-556F28B4B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51435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JUW-001 · ONE PIECE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AA6EB8-134E-4ECF-9C51-105B1749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SOCIAL CONCEPT · LULU + JUW-001</a:t>
            </a:r>
          </a:p>
        </p:txBody>
      </p:sp>
      <p:sp>
        <p:nvSpPr>
          <p:cNvPr id="13" name="s9-checkout-bezel">
            <a:extLst xmlns:a="http://schemas.openxmlformats.org/drawingml/2006/main">
              <a:ext uri="{FF2B5EF4-FFF2-40B4-BE49-F238E27FC236}">
                <a16:creationId xmlns:a16="http://schemas.microsoft.com/office/drawing/2014/main" id="{5F323C42-2CF9-43AC-A158-A27DD72C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676400"/>
            <a:ext cx="6686550" cy="3905250"/>
          </a:xfrm>
          <a:prstGeom xmlns:a="http://schemas.openxmlformats.org/drawingml/2006/main" prst="roundRect">
            <a:avLst>
              <a:gd name="adj" fmla="val 58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0C9"/>
            </a:solidFill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35fa58395b4556"/>
          <a:srcRect xmlns:a="http://schemas.openxmlformats.org/drawingml/2006/main" l="17" t="0" r="1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48250" y="1828800"/>
            <a:ext cx="6381750" cy="3590925"/>
          </a:xfrm>
          <a:prstGeom xmlns:a="http://schemas.openxmlformats.org/drawingml/2006/main" prst="roundRect">
            <a:avLst>
              <a:gd name="adj" fmla="val 424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D1B3CA-9F1D-4865-9E68-6618981A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753100"/>
            <a:ext cx="668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SHOPPER REVIEWS THE ORDER, THEN SENDS IT ON WHATSAPP</a:t>
            </a:r>
          </a:p>
        </p:txBody>
      </p:sp>
      <p:sp>
        <p:nvSpPr>
          <p:cNvPr id="16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2AC03132-9370-4050-8442-E2463EA2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F5E36D-8F62-48B8-A66A-2B58EE15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DF8A6C-33BE-4087-8D9F-A8D932B2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8B817A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9924193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2A17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5e33bbf8774b6c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f82edfcbef42a7"/>
          <a:stretch xmlns:a="http://schemas.openxmlformats.org/drawingml/2006/main"/>
        </p:blipFill>
        <p:spPr>
          <a:xfrm xmlns:a="http://schemas.openxmlformats.org/drawingml/2006/main" rot="-360000">
            <a:off x="7639050" y="4029075"/>
            <a:ext cx="285750" cy="285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6E54C-61E2-4143-A850-6C94F6D1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D0C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8D0CA"/>
                </a:solidFill>
                <a:latin typeface="Avenir Next"/>
                <a:ea typeface="Avenir Next"/>
                <a:cs typeface="Avenir Next"/>
              </a:rPr>
              <a:t>LAGOS HANDOFF</a:t>
            </a:r>
          </a:p>
        </p:txBody>
      </p:sp>
      <p:sp>
        <p:nvSpPr>
          <p:cNvPr id="4" name="coral-tick-64-110">
            <a:extLst xmlns:a="http://schemas.openxmlformats.org/drawingml/2006/main">
              <a:ext uri="{FF2B5EF4-FFF2-40B4-BE49-F238E27FC236}">
                <a16:creationId xmlns:a16="http://schemas.microsoft.com/office/drawing/2014/main" id="{D676B069-CF13-415F-BA6B-613BE82C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10-title">
            <a:extLst xmlns:a="http://schemas.openxmlformats.org/drawingml/2006/main">
              <a:ext uri="{FF2B5EF4-FFF2-40B4-BE49-F238E27FC236}">
                <a16:creationId xmlns:a16="http://schemas.microsoft.com/office/drawing/2014/main" id="{47B160CC-9AAA-4416-AA75-A8EB528C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3810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405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One piece,</a:t>
            </a:r>
          </a:p>
          <a:p xmlns:a="http://schemas.openxmlformats.org/drawingml/2006/main">
            <a:pPr algn="l">
              <a:defRPr sz="405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405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back in motion.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3FC17-916A-4D88-99A6-1FF1BFB7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371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8E0DA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E8E0DA"/>
                </a:solidFill>
                <a:latin typeface="Avenir Next"/>
                <a:ea typeface="Avenir Next"/>
                <a:cs typeface="Avenir Next"/>
              </a:rPr>
              <a:t>Studio pickup after payment, by appointment.</a:t>
            </a:r>
          </a:p>
          <a:p xmlns:a="http://schemas.openxmlformats.org/drawingml/2006/main">
            <a:pPr>
              <a:defRPr sz="1575">
                <a:solidFill>
                  <a:srgbClr val="E8E0DA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E8E0DA"/>
                </a:solidFill>
                <a:latin typeface="Avenir Next"/>
                <a:ea typeface="Avenir Next"/>
                <a:cs typeface="Avenir Next"/>
              </a:rPr>
              <a:t>Lagos delivery in 1–3 working days.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BA853-B98A-49B4-BC46-E5B71605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8BEB7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C8BEB7"/>
                </a:solidFill>
                <a:latin typeface="Avenir Next"/>
                <a:ea typeface="Avenir Next"/>
                <a:cs typeface="Avenir Next"/>
              </a:rPr>
              <a:t>LAGOS HANDOFF · CONCEPT</a:t>
            </a:r>
          </a:p>
        </p:txBody>
      </p:sp>
      <p:sp>
        <p:nvSpPr>
          <p:cNvPr id="8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B4E0F623-B46E-4F9A-8DB8-3A865FFF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7D5DAC-9826-4B90-B2E7-0AB069BE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D8AD6F-DC27-407D-B801-83F0B5C9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690969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2A17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ac7cca712b4b0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41FCA-DC16-4768-99B2-B8CAB7D0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8D0CA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8D0CA"/>
                </a:solidFill>
                <a:latin typeface="Avenir Next"/>
                <a:ea typeface="Avenir Next"/>
                <a:cs typeface="Avenir Next"/>
              </a:rPr>
              <a:t>FUTURE CAMPAIGN CONCEPT</a:t>
            </a:r>
          </a:p>
        </p:txBody>
      </p:sp>
      <p:sp>
        <p:nvSpPr>
          <p:cNvPr id="3" name="coral-tick-64-102">
            <a:extLst xmlns:a="http://schemas.openxmlformats.org/drawingml/2006/main">
              <a:ext uri="{FF2B5EF4-FFF2-40B4-BE49-F238E27FC236}">
                <a16:creationId xmlns:a16="http://schemas.microsoft.com/office/drawing/2014/main" id="{FF03891B-3CFD-47D2-9BAE-5737C00C9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71550"/>
            <a:ext cx="266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11-title">
            <a:extLst xmlns:a="http://schemas.openxmlformats.org/drawingml/2006/main">
              <a:ext uri="{FF2B5EF4-FFF2-40B4-BE49-F238E27FC236}">
                <a16:creationId xmlns:a16="http://schemas.microsoft.com/office/drawing/2014/main" id="{E0676451-850C-44C1-AE0A-60A92B82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3714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90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390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Clothes with</a:t>
            </a:r>
          </a:p>
          <a:p xmlns:a="http://schemas.openxmlformats.org/drawingml/2006/main">
            <a:pPr algn="l">
              <a:defRPr sz="390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390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a second first</a:t>
            </a:r>
          </a:p>
          <a:p xmlns:a="http://schemas.openxmlformats.org/drawingml/2006/main">
            <a:pPr algn="l">
              <a:defRPr sz="3900">
                <a:solidFill>
                  <a:srgbClr val="FFFFFF"/>
                </a:solidFill>
                <a:latin typeface="Bodoni 72"/>
                <a:ea typeface="Bodoni 72"/>
                <a:cs typeface="Bodoni 72"/>
              </a:defRPr>
            </a:pPr>
            <a:r>
              <a:rPr sz="3900">
                <a:solidFill>
                  <a:srgbClr val="FFFFFF"/>
                </a:solidFill>
                <a:latin typeface="Bodoni 72"/>
                <a:ea typeface="Bodoni 72"/>
                <a:cs typeface="Bodoni 72"/>
              </a:rPr>
              <a:t>impression.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1E4F73-F0FE-4C0A-9E28-D21CCCAC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48100"/>
            <a:ext cx="33718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E2DAD4"/>
                </a:solidFill>
                <a:latin typeface="Avenir Next"/>
                <a:ea typeface="Avenir Next"/>
                <a:cs typeface="Avenir Next"/>
              </a:defRPr>
            </a:pPr>
            <a:r>
              <a:rPr sz="1575">
                <a:solidFill>
                  <a:srgbClr val="E2DAD4"/>
                </a:solidFill>
                <a:latin typeface="Avenir Next"/>
                <a:ea typeface="Avenir Next"/>
                <a:cs typeface="Avenir Next"/>
              </a:rPr>
              <a:t>One-off urban womenswear from Lulu’s wardrobe, ready to move through the city.</a:t>
            </a:r>
          </a:p>
        </p:txBody>
      </p:sp>
      <p:sp>
        <p:nvSpPr>
          <p:cNvPr id="6" name="s11-poster-surface">
            <a:extLst xmlns:a="http://schemas.openxmlformats.org/drawingml/2006/main">
              <a:ext uri="{FF2B5EF4-FFF2-40B4-BE49-F238E27FC236}">
                <a16:creationId xmlns:a16="http://schemas.microsoft.com/office/drawing/2014/main" id="{C8B3C905-2C4B-4367-8CF5-59DF1FEF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0550"/>
            <a:ext cx="3429000" cy="561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10603f8c5547f6"/>
          <a:stretch xmlns:a="http://schemas.openxmlformats.org/drawingml/2006/main"/>
        </p:blipFill>
        <p:spPr>
          <a:xfrm xmlns:a="http://schemas.openxmlformats.org/drawingml/2006/main">
            <a:off x="7010400" y="841375"/>
            <a:ext cx="2057400" cy="46990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62bfd5ccc4d61"/>
          <a:srcRect xmlns:a="http://schemas.openxmlformats.org/drawingml/2006/main" l="0" t="6163" r="0" b="61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19950" y="1504950"/>
            <a:ext cx="2400300" cy="3505200"/>
          </a:xfrm>
          <a:prstGeom xmlns:a="http://schemas.openxmlformats.org/drawingml/2006/main" prst="rect">
            <a:avLst/>
          </a:prstGeom>
        </p:spPr>
      </p:pic>
      <p:sp>
        <p:nvSpPr>
          <p:cNvPr id="9" name="s11-v3-proof-label">
            <a:extLst xmlns:a="http://schemas.openxmlformats.org/drawingml/2006/main">
              <a:ext uri="{FF2B5EF4-FFF2-40B4-BE49-F238E27FC236}">
                <a16:creationId xmlns:a16="http://schemas.microsoft.com/office/drawing/2014/main" id="{AE15E730-A978-4CF3-AA29-F22CF37A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86300"/>
            <a:ext cx="2171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8755C0-26C4-4541-9DF0-4D80F116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24400"/>
            <a:ext cx="1981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LULU · JUW-001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0FC0E-ABD9-4755-8B1D-7A184B045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57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665E59"/>
                </a:solidFill>
                <a:latin typeface="Avenir Next"/>
                <a:ea typeface="Avenir Next"/>
                <a:cs typeface="Avenir Next"/>
              </a:rPr>
              <a:t>DROP 01 · LAGOS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28D3AE-95DE-4202-A41B-42CA6966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562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81412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181412"/>
                </a:solidFill>
                <a:latin typeface="Avenir Next"/>
                <a:ea typeface="Avenir Next"/>
                <a:cs typeface="Avenir Next"/>
              </a:rPr>
              <a:t>JUW-001 · ONE PIECE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0C99E7-5E5C-4D60-A487-5BFB273B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62674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D8D0CA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D8D0CA"/>
                </a:solidFill>
                <a:latin typeface="Avenir Next"/>
                <a:ea typeface="Avenir Next"/>
                <a:cs typeface="Avenir Next"/>
              </a:rPr>
              <a:t>FUTURE CAMPAIGN CONCEPT</a:t>
            </a:r>
          </a:p>
        </p:txBody>
      </p:sp>
      <p:sp>
        <p:nvSpPr>
          <p:cNvPr id="14" name="coral-tick-64-688">
            <a:extLst xmlns:a="http://schemas.openxmlformats.org/drawingml/2006/main">
              <a:ext uri="{FF2B5EF4-FFF2-40B4-BE49-F238E27FC236}">
                <a16:creationId xmlns:a16="http://schemas.microsoft.com/office/drawing/2014/main" id="{B8B6C7FC-31AC-4F69-A370-63F11776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52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E57A83-82EC-4682-B6B8-36A0696C4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4579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JUSTURBANWEARS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36435C-65F9-437C-AD2C-5D3B1D9E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579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>
                <a:solidFill>
                  <a:srgbClr val="D9D0C9"/>
                </a:solidFill>
                <a:latin typeface="Avenir Next"/>
                <a:ea typeface="Avenir Next"/>
                <a:cs typeface="Avenir Next"/>
              </a:defRPr>
            </a:pPr>
            <a:r>
              <a:rPr sz="1200">
                <a:solidFill>
                  <a:srgbClr val="D9D0C9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81971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2026-08-11T15:16:56.2520000Z</dcterms:created>
  <dcterms:modified xsi:type="dcterms:W3CDTF">2026-08-11T15:16:56.2520000Z</dcterms:modified>
</coreProperties>
</file>